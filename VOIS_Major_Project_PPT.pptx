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31" roundtripDataSignature="AMtx7mhwE/oAFhrf/8NcxAd2aZZ7ijOt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a5a01509b_2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fa5a01509b_2_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fa5a01509b_2_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a5a01509b_2_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a5a01509b_2_2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fa5a01509b_2_2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fa5a01509b_2_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fa5a01509b_2_2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g3fa5a01509b_2_20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a5a01509b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a5a01509b_2_2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3fa5a01509b_2_2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a5a01509b_2_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a5a01509b_2_2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fa5a01509b_2_2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a5a01509b_2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a5a01509b_2_2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fa5a01509b_2_2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fa5a01509b_2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fa5a01509b_2_2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fa5a01509b_2_25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a5a01509b_2_2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fa5a01509b_2_2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fa5a01509b_2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fa5a01509b_2_2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g3fa5a01509b_2_2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a5a01509b_2_2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g3fa5a01509b_2_2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a5a01509b_2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fa5a01509b_2_2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3fa5a01509b_2_2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8" name="Shape 28"/>
        <p:cNvGrpSpPr/>
        <p:nvPr/>
      </p:nvGrpSpPr>
      <p:grpSpPr>
        <a:xfrm>
          <a:off x="0" y="0"/>
          <a:ext cx="0" cy="0"/>
          <a:chOff x="0" y="0"/>
          <a:chExt cx="0" cy="0"/>
        </a:xfrm>
      </p:grpSpPr>
      <p:sp>
        <p:nvSpPr>
          <p:cNvPr id="29" name="Google Shape;29;p16"/>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0" name="Google Shape;30;p16"/>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1" name="Google Shape;31;p16"/>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6"/>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6"/>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6"/>
          <p:cNvSpPr/>
          <p:nvPr>
            <p:ph idx="2" type="pic"/>
          </p:nvPr>
        </p:nvSpPr>
        <p:spPr>
          <a:xfrm>
            <a:off x="1571515" y="1914044"/>
            <a:ext cx="3993624" cy="3617848"/>
          </a:xfrm>
          <a:prstGeom prst="rect">
            <a:avLst/>
          </a:prstGeom>
          <a:noFill/>
          <a:ln>
            <a:noFill/>
          </a:ln>
        </p:spPr>
      </p:sp>
      <p:sp>
        <p:nvSpPr>
          <p:cNvPr id="35" name="Google Shape;35;p16"/>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 name="Shape 36"/>
        <p:cNvGrpSpPr/>
        <p:nvPr/>
      </p:nvGrpSpPr>
      <p:grpSpPr>
        <a:xfrm>
          <a:off x="0" y="0"/>
          <a:ext cx="0" cy="0"/>
          <a:chOff x="0" y="0"/>
          <a:chExt cx="0" cy="0"/>
        </a:xfrm>
      </p:grpSpPr>
      <p:sp>
        <p:nvSpPr>
          <p:cNvPr id="37" name="Google Shape;37;p17"/>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8" name="Google Shape;38;p17"/>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9" name="Google Shape;39;p17"/>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17"/>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17"/>
          <p:cNvSpPr/>
          <p:nvPr>
            <p:ph idx="2" type="pic"/>
          </p:nvPr>
        </p:nvSpPr>
        <p:spPr>
          <a:xfrm>
            <a:off x="7090227" y="786181"/>
            <a:ext cx="4441372" cy="5393036"/>
          </a:xfrm>
          <a:prstGeom prst="rect">
            <a:avLst/>
          </a:prstGeom>
          <a:noFill/>
          <a:ln>
            <a:noFill/>
          </a:ln>
        </p:spPr>
      </p:sp>
      <p:sp>
        <p:nvSpPr>
          <p:cNvPr id="42" name="Google Shape;42;p17"/>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3" name="Shape 43"/>
        <p:cNvGrpSpPr/>
        <p:nvPr/>
      </p:nvGrpSpPr>
      <p:grpSpPr>
        <a:xfrm>
          <a:off x="0" y="0"/>
          <a:ext cx="0" cy="0"/>
          <a:chOff x="0" y="0"/>
          <a:chExt cx="0" cy="0"/>
        </a:xfrm>
      </p:grpSpPr>
      <p:sp>
        <p:nvSpPr>
          <p:cNvPr id="44" name="Google Shape;44;p18"/>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5" name="Google Shape;45;p18"/>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18"/>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18"/>
          <p:cNvSpPr/>
          <p:nvPr>
            <p:ph idx="2" type="pic"/>
          </p:nvPr>
        </p:nvSpPr>
        <p:spPr>
          <a:xfrm>
            <a:off x="5733416" y="624239"/>
            <a:ext cx="5855754" cy="5631571"/>
          </a:xfrm>
          <a:prstGeom prst="rect">
            <a:avLst/>
          </a:prstGeom>
          <a:noFill/>
          <a:ln>
            <a:noFill/>
          </a:ln>
        </p:spPr>
      </p:sp>
      <p:sp>
        <p:nvSpPr>
          <p:cNvPr id="48" name="Google Shape;48;p18"/>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9" name="Google Shape;49;p1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0" name="Shape 50"/>
        <p:cNvGrpSpPr/>
        <p:nvPr/>
      </p:nvGrpSpPr>
      <p:grpSpPr>
        <a:xfrm>
          <a:off x="0" y="0"/>
          <a:ext cx="0" cy="0"/>
          <a:chOff x="0" y="0"/>
          <a:chExt cx="0" cy="0"/>
        </a:xfrm>
      </p:grpSpPr>
      <p:sp>
        <p:nvSpPr>
          <p:cNvPr id="51" name="Google Shape;51;p19"/>
          <p:cNvSpPr/>
          <p:nvPr>
            <p:ph idx="2" type="pic"/>
          </p:nvPr>
        </p:nvSpPr>
        <p:spPr>
          <a:xfrm>
            <a:off x="5353508" y="2555551"/>
            <a:ext cx="1484985" cy="1280160"/>
          </a:xfrm>
          <a:prstGeom prst="rect">
            <a:avLst/>
          </a:prstGeom>
          <a:noFill/>
          <a:ln>
            <a:noFill/>
          </a:ln>
        </p:spPr>
      </p:sp>
      <p:sp>
        <p:nvSpPr>
          <p:cNvPr id="52" name="Google Shape;52;p19"/>
          <p:cNvSpPr/>
          <p:nvPr>
            <p:ph idx="3" type="pic"/>
          </p:nvPr>
        </p:nvSpPr>
        <p:spPr>
          <a:xfrm>
            <a:off x="3115921" y="2555551"/>
            <a:ext cx="1484985" cy="1280160"/>
          </a:xfrm>
          <a:prstGeom prst="rect">
            <a:avLst/>
          </a:prstGeom>
          <a:noFill/>
          <a:ln>
            <a:noFill/>
          </a:ln>
        </p:spPr>
      </p:sp>
      <p:sp>
        <p:nvSpPr>
          <p:cNvPr id="53" name="Google Shape;53;p19"/>
          <p:cNvSpPr/>
          <p:nvPr>
            <p:ph idx="4" type="pic"/>
          </p:nvPr>
        </p:nvSpPr>
        <p:spPr>
          <a:xfrm>
            <a:off x="7602465" y="2555551"/>
            <a:ext cx="1484985" cy="1280160"/>
          </a:xfrm>
          <a:prstGeom prst="rect">
            <a:avLst/>
          </a:prstGeom>
          <a:noFill/>
          <a:ln>
            <a:noFill/>
          </a:ln>
        </p:spPr>
      </p:sp>
      <p:sp>
        <p:nvSpPr>
          <p:cNvPr id="54" name="Google Shape;54;p19"/>
          <p:cNvSpPr/>
          <p:nvPr>
            <p:ph idx="5" type="pic"/>
          </p:nvPr>
        </p:nvSpPr>
        <p:spPr>
          <a:xfrm>
            <a:off x="9840051" y="2555551"/>
            <a:ext cx="1484985" cy="1280160"/>
          </a:xfrm>
          <a:prstGeom prst="rect">
            <a:avLst/>
          </a:prstGeom>
          <a:noFill/>
          <a:ln>
            <a:noFill/>
          </a:ln>
        </p:spPr>
      </p:sp>
      <p:sp>
        <p:nvSpPr>
          <p:cNvPr id="55" name="Google Shape;55;p19"/>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7" name="Google Shape;57;p19"/>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19"/>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19"/>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0" name="Google Shape;60;p19"/>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9"/>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9"/>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9"/>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9"/>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9"/>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9"/>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9"/>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9"/>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9"/>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0" name="Shape 70"/>
        <p:cNvGrpSpPr/>
        <p:nvPr/>
      </p:nvGrpSpPr>
      <p:grpSpPr>
        <a:xfrm>
          <a:off x="0" y="0"/>
          <a:ext cx="0" cy="0"/>
          <a:chOff x="0" y="0"/>
          <a:chExt cx="0" cy="0"/>
        </a:xfrm>
      </p:grpSpPr>
      <p:grpSp>
        <p:nvGrpSpPr>
          <p:cNvPr id="71" name="Google Shape;71;p20"/>
          <p:cNvGrpSpPr/>
          <p:nvPr/>
        </p:nvGrpSpPr>
        <p:grpSpPr>
          <a:xfrm>
            <a:off x="0" y="-8467"/>
            <a:ext cx="12192000" cy="6866467"/>
            <a:chOff x="0" y="-8467"/>
            <a:chExt cx="12192000" cy="6866467"/>
          </a:xfrm>
        </p:grpSpPr>
        <p:sp>
          <p:nvSpPr>
            <p:cNvPr id="72" name="Google Shape;72;p20"/>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3" name="Google Shape;73;p20"/>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4" name="Google Shape;74;p20"/>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5" name="Google Shape;75;p20"/>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6" name="Google Shape;76;p20"/>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7" name="Google Shape;77;p20"/>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0"/>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79" name="Google Shape;79;p20"/>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0" name="Google Shape;80;p20"/>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1" name="Google Shape;81;p20"/>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20"/>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0"/>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4" name="Google Shape;84;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7" name="Shape 87"/>
        <p:cNvGrpSpPr/>
        <p:nvPr/>
      </p:nvGrpSpPr>
      <p:grpSpPr>
        <a:xfrm>
          <a:off x="0" y="0"/>
          <a:ext cx="0" cy="0"/>
          <a:chOff x="0" y="0"/>
          <a:chExt cx="0" cy="0"/>
        </a:xfrm>
      </p:grpSpPr>
      <p:sp>
        <p:nvSpPr>
          <p:cNvPr id="88" name="Google Shape;88;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0" name="Google Shape;90;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3" name="Shape 93"/>
        <p:cNvGrpSpPr/>
        <p:nvPr/>
      </p:nvGrpSpPr>
      <p:grpSpPr>
        <a:xfrm>
          <a:off x="0" y="0"/>
          <a:ext cx="0" cy="0"/>
          <a:chOff x="0" y="0"/>
          <a:chExt cx="0" cy="0"/>
        </a:xfrm>
      </p:grpSpPr>
      <p:sp>
        <p:nvSpPr>
          <p:cNvPr id="94" name="Google Shape;94;p22"/>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6" name="Google Shape;96;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9" name="Shape 99"/>
        <p:cNvGrpSpPr/>
        <p:nvPr/>
      </p:nvGrpSpPr>
      <p:grpSpPr>
        <a:xfrm>
          <a:off x="0" y="0"/>
          <a:ext cx="0" cy="0"/>
          <a:chOff x="0" y="0"/>
          <a:chExt cx="0" cy="0"/>
        </a:xfrm>
      </p:grpSpPr>
      <p:sp>
        <p:nvSpPr>
          <p:cNvPr id="100" name="Google Shape;100;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3"/>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2" name="Google Shape;102;p23"/>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6" name="Shape 106"/>
        <p:cNvGrpSpPr/>
        <p:nvPr/>
      </p:nvGrpSpPr>
      <p:grpSpPr>
        <a:xfrm>
          <a:off x="0" y="0"/>
          <a:ext cx="0" cy="0"/>
          <a:chOff x="0" y="0"/>
          <a:chExt cx="0" cy="0"/>
        </a:xfrm>
      </p:grpSpPr>
      <p:sp>
        <p:nvSpPr>
          <p:cNvPr id="107" name="Google Shape;107;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4"/>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24"/>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0" name="Google Shape;110;p24"/>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1" name="Google Shape;111;p24"/>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2" name="Google Shape;112;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4" name="Shape 124"/>
        <p:cNvGrpSpPr/>
        <p:nvPr/>
      </p:nvGrpSpPr>
      <p:grpSpPr>
        <a:xfrm>
          <a:off x="0" y="0"/>
          <a:ext cx="0" cy="0"/>
          <a:chOff x="0" y="0"/>
          <a:chExt cx="0" cy="0"/>
        </a:xfrm>
      </p:grpSpPr>
      <p:sp>
        <p:nvSpPr>
          <p:cNvPr id="125" name="Google Shape;125;p27"/>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7"/>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27"/>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8" name="Google Shape;128;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1" name="Shape 131"/>
        <p:cNvGrpSpPr/>
        <p:nvPr/>
      </p:nvGrpSpPr>
      <p:grpSpPr>
        <a:xfrm>
          <a:off x="0" y="0"/>
          <a:ext cx="0" cy="0"/>
          <a:chOff x="0" y="0"/>
          <a:chExt cx="0" cy="0"/>
        </a:xfrm>
      </p:grpSpPr>
      <p:sp>
        <p:nvSpPr>
          <p:cNvPr id="132" name="Google Shape;132;p28"/>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8"/>
          <p:cNvSpPr/>
          <p:nvPr>
            <p:ph idx="2" type="pic"/>
          </p:nvPr>
        </p:nvSpPr>
        <p:spPr>
          <a:xfrm>
            <a:off x="677334" y="609600"/>
            <a:ext cx="8596668" cy="3845718"/>
          </a:xfrm>
          <a:prstGeom prst="rect">
            <a:avLst/>
          </a:prstGeom>
          <a:noFill/>
          <a:ln>
            <a:noFill/>
          </a:ln>
        </p:spPr>
      </p:sp>
      <p:sp>
        <p:nvSpPr>
          <p:cNvPr id="134" name="Google Shape;134;p28"/>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5" name="Google Shape;135;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7" name="Google Shape;137;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8" name="Shape 138"/>
        <p:cNvGrpSpPr/>
        <p:nvPr/>
      </p:nvGrpSpPr>
      <p:grpSpPr>
        <a:xfrm>
          <a:off x="0" y="0"/>
          <a:ext cx="0" cy="0"/>
          <a:chOff x="0" y="0"/>
          <a:chExt cx="0" cy="0"/>
        </a:xfrm>
      </p:grpSpPr>
      <p:sp>
        <p:nvSpPr>
          <p:cNvPr id="139" name="Google Shape;139;p29"/>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9"/>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1" name="Google Shape;141;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4" name="Shape 144"/>
        <p:cNvGrpSpPr/>
        <p:nvPr/>
      </p:nvGrpSpPr>
      <p:grpSpPr>
        <a:xfrm>
          <a:off x="0" y="0"/>
          <a:ext cx="0" cy="0"/>
          <a:chOff x="0" y="0"/>
          <a:chExt cx="0" cy="0"/>
        </a:xfrm>
      </p:grpSpPr>
      <p:sp>
        <p:nvSpPr>
          <p:cNvPr id="145" name="Google Shape;145;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30"/>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7" name="Google Shape;147;p30"/>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8" name="Google Shape;148;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1" name="Google Shape;151;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2" name="Google Shape;152;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3" name="Shape 153"/>
        <p:cNvGrpSpPr/>
        <p:nvPr/>
      </p:nvGrpSpPr>
      <p:grpSpPr>
        <a:xfrm>
          <a:off x="0" y="0"/>
          <a:ext cx="0" cy="0"/>
          <a:chOff x="0" y="0"/>
          <a:chExt cx="0" cy="0"/>
        </a:xfrm>
      </p:grpSpPr>
      <p:sp>
        <p:nvSpPr>
          <p:cNvPr id="154" name="Google Shape;154;p31"/>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1"/>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6" name="Google Shape;156;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59" name="Shape 159"/>
        <p:cNvGrpSpPr/>
        <p:nvPr/>
      </p:nvGrpSpPr>
      <p:grpSpPr>
        <a:xfrm>
          <a:off x="0" y="0"/>
          <a:ext cx="0" cy="0"/>
          <a:chOff x="0" y="0"/>
          <a:chExt cx="0" cy="0"/>
        </a:xfrm>
      </p:grpSpPr>
      <p:sp>
        <p:nvSpPr>
          <p:cNvPr id="160" name="Google Shape;160;p3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2"/>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2" name="Google Shape;162;p32"/>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3" name="Google Shape;163;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3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7" name="Google Shape;167;p3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8" name="Shape 168"/>
        <p:cNvGrpSpPr/>
        <p:nvPr/>
      </p:nvGrpSpPr>
      <p:grpSpPr>
        <a:xfrm>
          <a:off x="0" y="0"/>
          <a:ext cx="0" cy="0"/>
          <a:chOff x="0" y="0"/>
          <a:chExt cx="0" cy="0"/>
        </a:xfrm>
      </p:grpSpPr>
      <p:sp>
        <p:nvSpPr>
          <p:cNvPr id="169" name="Google Shape;169;p33"/>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3"/>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1" name="Google Shape;171;p33"/>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2" name="Google Shape;172;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5" name="Shape 175"/>
        <p:cNvGrpSpPr/>
        <p:nvPr/>
      </p:nvGrpSpPr>
      <p:grpSpPr>
        <a:xfrm>
          <a:off x="0" y="0"/>
          <a:ext cx="0" cy="0"/>
          <a:chOff x="0" y="0"/>
          <a:chExt cx="0" cy="0"/>
        </a:xfrm>
      </p:grpSpPr>
      <p:sp>
        <p:nvSpPr>
          <p:cNvPr id="176" name="Google Shape;176;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34"/>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8" name="Google Shape;178;p3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1" name="Shape 181"/>
        <p:cNvGrpSpPr/>
        <p:nvPr/>
      </p:nvGrpSpPr>
      <p:grpSpPr>
        <a:xfrm>
          <a:off x="0" y="0"/>
          <a:ext cx="0" cy="0"/>
          <a:chOff x="0" y="0"/>
          <a:chExt cx="0" cy="0"/>
        </a:xfrm>
      </p:grpSpPr>
      <p:sp>
        <p:nvSpPr>
          <p:cNvPr id="182" name="Google Shape;182;p35"/>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35"/>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4" name="Google Shape;184;p3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3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7" name="Shape 187"/>
        <p:cNvGrpSpPr/>
        <p:nvPr/>
      </p:nvGrpSpPr>
      <p:grpSpPr>
        <a:xfrm>
          <a:off x="0" y="0"/>
          <a:ext cx="0" cy="0"/>
          <a:chOff x="0" y="0"/>
          <a:chExt cx="0" cy="0"/>
        </a:xfrm>
      </p:grpSpPr>
      <p:sp>
        <p:nvSpPr>
          <p:cNvPr id="188" name="Google Shape;188;p36"/>
          <p:cNvSpPr/>
          <p:nvPr>
            <p:ph idx="2" type="pic"/>
          </p:nvPr>
        </p:nvSpPr>
        <p:spPr>
          <a:xfrm>
            <a:off x="0" y="0"/>
            <a:ext cx="12192000" cy="6858000"/>
          </a:xfrm>
          <a:prstGeom prst="rect">
            <a:avLst/>
          </a:prstGeom>
          <a:noFill/>
          <a:ln>
            <a:noFill/>
          </a:ln>
        </p:spPr>
      </p:sp>
      <p:sp>
        <p:nvSpPr>
          <p:cNvPr descr="Tall office building looking up" id="189" name="Google Shape;189;p36"/>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0" name="Google Shape;190;p36"/>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1" name="Google Shape;191;p36"/>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5"/>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5"/>
          <p:cNvSpPr txBox="1"/>
          <p:nvPr/>
        </p:nvSpPr>
        <p:spPr>
          <a:xfrm>
            <a:off x="660401" y="6378900"/>
            <a:ext cx="3294300" cy="365100"/>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None/>
            </a:pPr>
            <a:r>
              <a:rPr lang="en-US" sz="1100">
                <a:solidFill>
                  <a:schemeClr val="accent2"/>
                </a:solidFill>
                <a:latin typeface="Trebuchet MS"/>
                <a:ea typeface="Trebuchet MS"/>
                <a:cs typeface="Trebuchet MS"/>
                <a:sym typeface="Trebuchet MS"/>
              </a:rPr>
              <a:t>Manthan Kailas Takalkar | Data Analytics Project</a:t>
            </a:r>
            <a:endParaRPr b="0" i="0" sz="1100" u="none" cap="none" strike="noStrike">
              <a:solidFill>
                <a:schemeClr val="accent2"/>
              </a:solidFill>
              <a:latin typeface="Trebuchet MS"/>
              <a:ea typeface="Trebuchet MS"/>
              <a:cs typeface="Trebuchet MS"/>
              <a:sym typeface="Trebuchet MS"/>
            </a:endParaRPr>
          </a:p>
        </p:txBody>
      </p:sp>
      <p:sp>
        <p:nvSpPr>
          <p:cNvPr id="27" name="Google Shape;27;p15"/>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github.com/ManthanTakalkar/Seasonal_Agriculture_Performance_Data_Analysis/blob/main/Indian_Seasonal_Agricultural_Performance_Data_Analytics.ipynb"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
          <p:cNvSpPr txBox="1"/>
          <p:nvPr>
            <p:ph idx="1" type="body"/>
          </p:nvPr>
        </p:nvSpPr>
        <p:spPr>
          <a:xfrm>
            <a:off x="916350" y="2746925"/>
            <a:ext cx="10359300" cy="1135800"/>
          </a:xfrm>
          <a:prstGeom prst="rect">
            <a:avLst/>
          </a:pr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rmAutofit fontScale="77500"/>
          </a:bodyPr>
          <a:lstStyle/>
          <a:p>
            <a:pPr indent="0" lvl="0" marL="0" rtl="0" algn="l">
              <a:lnSpc>
                <a:spcPct val="150000"/>
              </a:lnSpc>
              <a:spcBef>
                <a:spcPts val="0"/>
              </a:spcBef>
              <a:spcAft>
                <a:spcPts val="0"/>
              </a:spcAft>
              <a:buSzPct val="52046"/>
              <a:buNone/>
            </a:pPr>
            <a:r>
              <a:rPr lang="en-US" sz="3074">
                <a:solidFill>
                  <a:schemeClr val="dk1"/>
                </a:solidFill>
              </a:rPr>
              <a:t>Student Name</a:t>
            </a:r>
            <a:r>
              <a:rPr b="0" lang="en-US" sz="3074">
                <a:solidFill>
                  <a:schemeClr val="dk1"/>
                </a:solidFill>
              </a:rPr>
              <a:t> - </a:t>
            </a:r>
            <a:r>
              <a:rPr b="0" lang="en-US" sz="3074" u="sng">
                <a:solidFill>
                  <a:schemeClr val="dk1"/>
                </a:solidFill>
              </a:rPr>
              <a:t>Manthan Kailas Takalkar</a:t>
            </a:r>
            <a:endParaRPr b="0" sz="3074" u="sng">
              <a:solidFill>
                <a:schemeClr val="dk1"/>
              </a:solidFill>
            </a:endParaRPr>
          </a:p>
          <a:p>
            <a:pPr indent="0" lvl="0" marL="0" rtl="0" algn="l">
              <a:spcBef>
                <a:spcPts val="1000"/>
              </a:spcBef>
              <a:spcAft>
                <a:spcPts val="0"/>
              </a:spcAft>
              <a:buSzPct val="57346"/>
              <a:buNone/>
            </a:pPr>
            <a:r>
              <a:rPr lang="en-US" sz="2790">
                <a:solidFill>
                  <a:schemeClr val="dk1"/>
                </a:solidFill>
              </a:rPr>
              <a:t>College Name </a:t>
            </a:r>
            <a:r>
              <a:rPr b="0" lang="en-US" sz="2790">
                <a:solidFill>
                  <a:schemeClr val="dk1"/>
                </a:solidFill>
              </a:rPr>
              <a:t>- </a:t>
            </a:r>
            <a:r>
              <a:rPr b="0" lang="en-US" sz="2790">
                <a:solidFill>
                  <a:schemeClr val="dk1"/>
                </a:solidFill>
              </a:rPr>
              <a:t>JSPM's Bhivarabai Sawant Institute of Technology &amp; Research</a:t>
            </a:r>
            <a:endParaRPr b="0" sz="2790">
              <a:solidFill>
                <a:schemeClr val="dk1"/>
              </a:solidFill>
            </a:endParaRPr>
          </a:p>
        </p:txBody>
      </p:sp>
      <p:sp>
        <p:nvSpPr>
          <p:cNvPr id="197" name="Google Shape;197;p1"/>
          <p:cNvSpPr txBox="1"/>
          <p:nvPr>
            <p:ph type="title"/>
          </p:nvPr>
        </p:nvSpPr>
        <p:spPr>
          <a:xfrm>
            <a:off x="15000" y="0"/>
            <a:ext cx="12162000" cy="2062500"/>
          </a:xfrm>
          <a:prstGeom prst="rect">
            <a:avLst/>
          </a:prstGeom>
          <a:solidFill>
            <a:srgbClr val="16B0E3">
              <a:alpha val="50200"/>
            </a:srgbClr>
          </a:solidFill>
          <a:ln cap="flat" cmpd="sng" w="28575">
            <a:solidFill>
              <a:schemeClr val="dk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Trebuchet MS"/>
              <a:buNone/>
            </a:pPr>
            <a:r>
              <a:rPr lang="en-US" sz="3200"/>
              <a:t>PROJECT_</a:t>
            </a:r>
            <a:r>
              <a:rPr lang="en-US" sz="3200"/>
              <a:t>TITLE:</a:t>
            </a:r>
            <a:endParaRPr sz="3200"/>
          </a:p>
          <a:p>
            <a:pPr indent="0" lvl="0" marL="0" rtl="0" algn="ctr">
              <a:lnSpc>
                <a:spcPct val="100000"/>
              </a:lnSpc>
              <a:spcBef>
                <a:spcPts val="0"/>
              </a:spcBef>
              <a:spcAft>
                <a:spcPts val="0"/>
              </a:spcAft>
              <a:buClr>
                <a:schemeClr val="dk1"/>
              </a:buClr>
              <a:buSzPts val="3200"/>
              <a:buFont typeface="Trebuchet MS"/>
              <a:buNone/>
            </a:pPr>
            <a:r>
              <a:t/>
            </a:r>
            <a:endParaRPr sz="3200" u="sng"/>
          </a:p>
          <a:p>
            <a:pPr indent="0" lvl="0" marL="0" rtl="0" algn="ctr">
              <a:lnSpc>
                <a:spcPct val="100000"/>
              </a:lnSpc>
              <a:spcBef>
                <a:spcPts val="0"/>
              </a:spcBef>
              <a:spcAft>
                <a:spcPts val="0"/>
              </a:spcAft>
              <a:buNone/>
            </a:pPr>
            <a:r>
              <a:rPr b="1" lang="en-US" sz="3200" u="sng">
                <a:solidFill>
                  <a:srgbClr val="FFFFFF"/>
                </a:solidFill>
              </a:rPr>
              <a:t>Performance_Analysis_Of_Indian_</a:t>
            </a:r>
            <a:r>
              <a:rPr b="1" lang="en-US" sz="3128" u="sng">
                <a:solidFill>
                  <a:srgbClr val="FFFFFF"/>
                </a:solidFill>
              </a:rPr>
              <a:t>Seasonal_Agriculture_Data</a:t>
            </a:r>
            <a:endParaRPr b="1" sz="3128" u="sng">
              <a:solidFill>
                <a:srgbClr val="FFFFFF"/>
              </a:solidFill>
            </a:endParaRPr>
          </a:p>
          <a:p>
            <a:pPr indent="0" lvl="0" marL="0" rtl="0" algn="l">
              <a:spcBef>
                <a:spcPts val="0"/>
              </a:spcBef>
              <a:spcAft>
                <a:spcPts val="0"/>
              </a:spcAft>
              <a:buClr>
                <a:schemeClr val="dk1"/>
              </a:buClr>
              <a:buSzPts val="3200"/>
              <a:buFont typeface="Trebuchet MS"/>
              <a:buNone/>
            </a:pPr>
            <a:r>
              <a:t/>
            </a:r>
            <a:endParaRPr sz="3200"/>
          </a:p>
        </p:txBody>
      </p:sp>
      <p:sp>
        <p:nvSpPr>
          <p:cNvPr id="198" name="Google Shape;198;p1"/>
          <p:cNvSpPr txBox="1"/>
          <p:nvPr/>
        </p:nvSpPr>
        <p:spPr>
          <a:xfrm>
            <a:off x="916350" y="4567150"/>
            <a:ext cx="10359300" cy="546300"/>
          </a:xfrm>
          <a:prstGeom prst="rect">
            <a:avLst/>
          </a:pr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100" u="none" cap="none" strike="noStrike">
                <a:solidFill>
                  <a:schemeClr val="dk1"/>
                </a:solidFill>
                <a:latin typeface="Trebuchet MS"/>
                <a:ea typeface="Trebuchet MS"/>
                <a:cs typeface="Trebuchet MS"/>
                <a:sym typeface="Trebuchet MS"/>
              </a:rPr>
              <a:t>AICTE STU ID : </a:t>
            </a:r>
            <a:r>
              <a:rPr lang="en-US" sz="2950">
                <a:solidFill>
                  <a:srgbClr val="333333"/>
                </a:solidFill>
                <a:highlight>
                  <a:schemeClr val="lt1"/>
                </a:highlight>
                <a:latin typeface="Trebuchet MS"/>
                <a:ea typeface="Trebuchet MS"/>
                <a:cs typeface="Trebuchet MS"/>
                <a:sym typeface="Trebuchet MS"/>
              </a:rPr>
              <a:t>STU60fe68627994f1627285602</a:t>
            </a:r>
            <a:endParaRPr sz="1700">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822"/>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animEffect filter="fade" transition="in">
                                      <p:cBhvr>
                                        <p:cTn dur="500"/>
                                        <p:tgtEl>
                                          <p:spTgt spid="19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
          <p:cNvSpPr txBox="1"/>
          <p:nvPr>
            <p:ph idx="1" type="body"/>
          </p:nvPr>
        </p:nvSpPr>
        <p:spPr>
          <a:xfrm>
            <a:off x="298250" y="1919225"/>
            <a:ext cx="7697400" cy="4000500"/>
          </a:xfrm>
          <a:prstGeom prst="rect">
            <a:avLst/>
          </a:prstGeom>
          <a:noFill/>
          <a:ln>
            <a:noFill/>
          </a:ln>
        </p:spPr>
        <p:txBody>
          <a:bodyPr anchorCtr="0" anchor="t" bIns="45700" lIns="91425" spcFirstLastPara="1" rIns="91425" wrap="square" tIns="45700">
            <a:noAutofit/>
          </a:bodyPr>
          <a:lstStyle/>
          <a:p>
            <a:pPr indent="0" lvl="0" marL="342900" rtl="0" algn="just">
              <a:lnSpc>
                <a:spcPct val="80000"/>
              </a:lnSpc>
              <a:spcBef>
                <a:spcPts val="0"/>
              </a:spcBef>
              <a:spcAft>
                <a:spcPts val="0"/>
              </a:spcAft>
              <a:buSzPts val="853"/>
              <a:buNone/>
            </a:pPr>
            <a:r>
              <a:rPr lang="en-US" sz="227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endParaRPr sz="2270"/>
          </a:p>
          <a:p>
            <a:pPr indent="0" lvl="0" marL="342900" rtl="0" algn="just">
              <a:lnSpc>
                <a:spcPct val="80000"/>
              </a:lnSpc>
              <a:spcBef>
                <a:spcPts val="0"/>
              </a:spcBef>
              <a:spcAft>
                <a:spcPts val="0"/>
              </a:spcAft>
              <a:buSzPts val="853"/>
              <a:buNone/>
            </a:pPr>
            <a:r>
              <a:t/>
            </a:r>
            <a:endParaRPr sz="2270"/>
          </a:p>
          <a:p>
            <a:pPr indent="0" lvl="0" marL="342900" rtl="0" algn="just">
              <a:lnSpc>
                <a:spcPct val="80000"/>
              </a:lnSpc>
              <a:spcBef>
                <a:spcPts val="0"/>
              </a:spcBef>
              <a:spcAft>
                <a:spcPts val="0"/>
              </a:spcAft>
              <a:buSzPts val="853"/>
              <a:buNone/>
            </a:pPr>
            <a:r>
              <a:rPr lang="en-US" sz="2270"/>
              <a:t>The problem is to analyze the given agricultural dataset and investigate seasonal differences in agricultural performance by identifying meaningful patterns, trends, relationships and variations within the available data.</a:t>
            </a:r>
            <a:endParaRPr sz="2270"/>
          </a:p>
        </p:txBody>
      </p:sp>
      <p:sp>
        <p:nvSpPr>
          <p:cNvPr id="204" name="Google Shape;204;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u="sng"/>
              <a:t>PROBLEM  STATEMENT</a:t>
            </a:r>
            <a:endParaRPr u="sng"/>
          </a:p>
        </p:txBody>
      </p:sp>
      <p:pic>
        <p:nvPicPr>
          <p:cNvPr id="205" name="Google Shape;205;p2"/>
          <p:cNvPicPr preferRelativeResize="0"/>
          <p:nvPr/>
        </p:nvPicPr>
        <p:blipFill rotWithShape="1">
          <a:blip r:embed="rId3">
            <a:alphaModFix/>
          </a:blip>
          <a:srcRect b="0" l="0" r="0" t="0"/>
          <a:stretch/>
        </p:blipFill>
        <p:spPr>
          <a:xfrm>
            <a:off x="8621784" y="2828909"/>
            <a:ext cx="2760759" cy="32644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ppt_w</p:attrName>
                                        </p:attrNameLst>
                                      </p:cBhvr>
                                      <p:tavLst>
                                        <p:tav fmla="" tm="0">
                                          <p:val>
                                            <p:strVal val="0"/>
                                          </p:val>
                                        </p:tav>
                                        <p:tav fmla="" tm="100000">
                                          <p:val>
                                            <p:strVal val="#ppt_w"/>
                                          </p:val>
                                        </p:tav>
                                      </p:tavLst>
                                    </p:anim>
                                    <p:anim calcmode="lin" valueType="num">
                                      <p:cBhvr additive="base">
                                        <p:cTn dur="500"/>
                                        <p:tgtEl>
                                          <p:spTgt spid="2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10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10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1000"/>
                                        <p:tgtEl>
                                          <p:spTgt spid="20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fa5a01509b_2_4"/>
          <p:cNvSpPr txBox="1"/>
          <p:nvPr>
            <p:ph idx="1" type="body"/>
          </p:nvPr>
        </p:nvSpPr>
        <p:spPr>
          <a:xfrm>
            <a:off x="660400" y="2044700"/>
            <a:ext cx="10161000" cy="42948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US" sz="2200"/>
              <a:t>The primary objective of this project is to analyze agricultural data from different seasons and identify meaningful patterns, trends, relationships and differences in agricultural performance.</a:t>
            </a:r>
            <a:endParaRPr sz="2200"/>
          </a:p>
          <a:p>
            <a:pPr indent="0" lvl="0" marL="0" rtl="0" algn="just">
              <a:spcBef>
                <a:spcPts val="1000"/>
              </a:spcBef>
              <a:spcAft>
                <a:spcPts val="0"/>
              </a:spcAft>
              <a:buNone/>
            </a:pPr>
            <a:r>
              <a:rPr lang="en-US" sz="2200"/>
              <a:t>Explore and understand the dataset. Clean and prepare the data for analysis.  Examine how agricultural performance varies across seasons. Identify important seasonal patterns and trends. Investigate relationships between seasonal conditions and agricultural outcomes. Compare relevant groups within different seasons.  Identify significant differences or unusual patterns.  Apply appropriate statistical and visualization techniques.  Interpret findings based on evidence from the dataset. Develop meaningful conclusions and data-driven recommendations.</a:t>
            </a:r>
            <a:endParaRPr sz="2200"/>
          </a:p>
        </p:txBody>
      </p:sp>
      <p:sp>
        <p:nvSpPr>
          <p:cNvPr id="212" name="Google Shape;212;g3fa5a01509b_2_4"/>
          <p:cNvSpPr txBox="1"/>
          <p:nvPr>
            <p:ph type="title"/>
          </p:nvPr>
        </p:nvSpPr>
        <p:spPr>
          <a:xfrm>
            <a:off x="660400" y="805213"/>
            <a:ext cx="4275000" cy="831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u="sng"/>
              <a:t>Objective</a:t>
            </a:r>
            <a:endParaRPr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6" name="Shape 216"/>
        <p:cNvGrpSpPr/>
        <p:nvPr/>
      </p:nvGrpSpPr>
      <p:grpSpPr>
        <a:xfrm>
          <a:off x="0" y="0"/>
          <a:ext cx="0" cy="0"/>
          <a:chOff x="0" y="0"/>
          <a:chExt cx="0" cy="0"/>
        </a:xfrm>
      </p:grpSpPr>
      <p:sp>
        <p:nvSpPr>
          <p:cNvPr id="217" name="Google Shape;217;p3"/>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u="sng"/>
              <a:t>Project Description</a:t>
            </a:r>
            <a:br>
              <a:rPr lang="en-US" u="sng"/>
            </a:br>
            <a:endParaRPr u="sng"/>
          </a:p>
          <a:p>
            <a:pPr indent="0" lvl="0" marL="0" rtl="0" algn="l">
              <a:spcBef>
                <a:spcPts val="0"/>
              </a:spcBef>
              <a:spcAft>
                <a:spcPts val="0"/>
              </a:spcAft>
              <a:buClr>
                <a:schemeClr val="dk1"/>
              </a:buClr>
              <a:buSzPct val="100000"/>
              <a:buFont typeface="Trebuchet MS"/>
              <a:buNone/>
            </a:pPr>
            <a:br>
              <a:rPr lang="en-US"/>
            </a:br>
            <a:endParaRPr/>
          </a:p>
        </p:txBody>
      </p:sp>
      <p:sp>
        <p:nvSpPr>
          <p:cNvPr id="218" name="Google Shape;218;p3"/>
          <p:cNvSpPr txBox="1"/>
          <p:nvPr/>
        </p:nvSpPr>
        <p:spPr>
          <a:xfrm>
            <a:off x="467350" y="1919925"/>
            <a:ext cx="10790700" cy="4490400"/>
          </a:xfrm>
          <a:prstGeom prst="rect">
            <a:avLst/>
          </a:prstGeom>
          <a:noFill/>
          <a:ln>
            <a:noFill/>
          </a:ln>
        </p:spPr>
        <p:txBody>
          <a:bodyPr anchorCtr="0" anchor="t" bIns="91425" lIns="91425" spcFirstLastPara="1" rIns="91425" wrap="square" tIns="91425">
            <a:noAutofit/>
          </a:bodyPr>
          <a:lstStyle/>
          <a:p>
            <a:pPr indent="-368300" lvl="0" marL="457200" rtl="0" algn="l">
              <a:lnSpc>
                <a:spcPct val="90000"/>
              </a:lnSpc>
              <a:spcBef>
                <a:spcPts val="0"/>
              </a:spcBef>
              <a:spcAft>
                <a:spcPts val="0"/>
              </a:spcAft>
              <a:buClr>
                <a:schemeClr val="dk1"/>
              </a:buClr>
              <a:buSzPts val="2200"/>
              <a:buFont typeface="Trebuchet MS"/>
              <a:buChar char="●"/>
            </a:pPr>
            <a:r>
              <a:rPr b="1" lang="en-US" sz="2200">
                <a:solidFill>
                  <a:schemeClr val="dk1"/>
                </a:solidFill>
                <a:latin typeface="Trebuchet MS"/>
                <a:ea typeface="Trebuchet MS"/>
                <a:cs typeface="Trebuchet MS"/>
                <a:sym typeface="Trebuchet MS"/>
              </a:rPr>
              <a:t>The Operational Problem:</a:t>
            </a:r>
            <a:r>
              <a:rPr lang="en-US" sz="2200">
                <a:solidFill>
                  <a:schemeClr val="dk1"/>
                </a:solidFill>
                <a:latin typeface="Trebuchet MS"/>
                <a:ea typeface="Trebuchet MS"/>
                <a:cs typeface="Trebuchet MS"/>
                <a:sym typeface="Trebuchet MS"/>
              </a:rPr>
              <a:t> Agricultural outcomes vary wildly due to changing seasonal weather, variable resource constraints, and fluctuating input pricing. Raw data fails to isolate these inefficiencies.</a:t>
            </a:r>
            <a:endParaRPr sz="2200">
              <a:solidFill>
                <a:schemeClr val="dk1"/>
              </a:solidFill>
              <a:latin typeface="Trebuchet MS"/>
              <a:ea typeface="Trebuchet MS"/>
              <a:cs typeface="Trebuchet MS"/>
              <a:sym typeface="Trebuchet MS"/>
            </a:endParaRPr>
          </a:p>
          <a:p>
            <a:pPr indent="0" lvl="0" marL="457200" rtl="0" algn="l">
              <a:lnSpc>
                <a:spcPct val="90000"/>
              </a:lnSpc>
              <a:spcBef>
                <a:spcPts val="0"/>
              </a:spcBef>
              <a:spcAft>
                <a:spcPts val="0"/>
              </a:spcAft>
              <a:buNone/>
            </a:pPr>
            <a:r>
              <a:t/>
            </a:r>
            <a:endParaRPr sz="2200">
              <a:solidFill>
                <a:schemeClr val="dk1"/>
              </a:solidFill>
              <a:latin typeface="Trebuchet MS"/>
              <a:ea typeface="Trebuchet MS"/>
              <a:cs typeface="Trebuchet MS"/>
              <a:sym typeface="Trebuchet MS"/>
            </a:endParaRPr>
          </a:p>
          <a:p>
            <a:pPr indent="-368300" lvl="0" marL="457200" rtl="0" algn="l">
              <a:lnSpc>
                <a:spcPct val="90000"/>
              </a:lnSpc>
              <a:spcBef>
                <a:spcPts val="0"/>
              </a:spcBef>
              <a:spcAft>
                <a:spcPts val="0"/>
              </a:spcAft>
              <a:buClr>
                <a:schemeClr val="dk1"/>
              </a:buClr>
              <a:buSzPts val="2200"/>
              <a:buFont typeface="Trebuchet MS"/>
              <a:buChar char="●"/>
            </a:pPr>
            <a:r>
              <a:rPr b="1" lang="en-US" sz="2200">
                <a:solidFill>
                  <a:schemeClr val="dk1"/>
                </a:solidFill>
                <a:latin typeface="Trebuchet MS"/>
                <a:ea typeface="Trebuchet MS"/>
                <a:cs typeface="Trebuchet MS"/>
                <a:sym typeface="Trebuchet MS"/>
              </a:rPr>
              <a:t>Core Objective:</a:t>
            </a:r>
            <a:r>
              <a:rPr lang="en-US" sz="2200">
                <a:solidFill>
                  <a:schemeClr val="dk1"/>
                </a:solidFill>
                <a:latin typeface="Trebuchet MS"/>
                <a:ea typeface="Trebuchet MS"/>
                <a:cs typeface="Trebuchet MS"/>
                <a:sym typeface="Trebuchet MS"/>
              </a:rPr>
              <a:t> Conduct an end-to-end data analysis to analyze seasonal differences in productivity, isolate resource inefficiencies, and evaluate economic margins.</a:t>
            </a:r>
            <a:endParaRPr sz="2200">
              <a:solidFill>
                <a:schemeClr val="dk1"/>
              </a:solidFill>
              <a:latin typeface="Trebuchet MS"/>
              <a:ea typeface="Trebuchet MS"/>
              <a:cs typeface="Trebuchet MS"/>
              <a:sym typeface="Trebuchet MS"/>
            </a:endParaRPr>
          </a:p>
          <a:p>
            <a:pPr indent="0" lvl="0" marL="457200" rtl="0" algn="l">
              <a:lnSpc>
                <a:spcPct val="90000"/>
              </a:lnSpc>
              <a:spcBef>
                <a:spcPts val="900"/>
              </a:spcBef>
              <a:spcAft>
                <a:spcPts val="0"/>
              </a:spcAft>
              <a:buNone/>
            </a:pPr>
            <a:r>
              <a:t/>
            </a:r>
            <a:endParaRPr sz="2200">
              <a:solidFill>
                <a:schemeClr val="dk1"/>
              </a:solidFill>
              <a:latin typeface="Trebuchet MS"/>
              <a:ea typeface="Trebuchet MS"/>
              <a:cs typeface="Trebuchet MS"/>
              <a:sym typeface="Trebuchet MS"/>
            </a:endParaRPr>
          </a:p>
          <a:p>
            <a:pPr indent="-368300" lvl="0" marL="457200" rtl="0" algn="l">
              <a:lnSpc>
                <a:spcPct val="90000"/>
              </a:lnSpc>
              <a:spcBef>
                <a:spcPts val="900"/>
              </a:spcBef>
              <a:spcAft>
                <a:spcPts val="0"/>
              </a:spcAft>
              <a:buClr>
                <a:schemeClr val="dk1"/>
              </a:buClr>
              <a:buSzPts val="2200"/>
              <a:buFont typeface="Trebuchet MS"/>
              <a:buChar char="●"/>
            </a:pPr>
            <a:r>
              <a:rPr b="1" lang="en-US" sz="2200">
                <a:solidFill>
                  <a:schemeClr val="dk1"/>
                </a:solidFill>
                <a:latin typeface="Trebuchet MS"/>
                <a:ea typeface="Trebuchet MS"/>
                <a:cs typeface="Trebuchet MS"/>
                <a:sym typeface="Trebuchet MS"/>
              </a:rPr>
              <a:t>Key Analytical Focus:</a:t>
            </a:r>
            <a:r>
              <a:rPr lang="en-US" sz="2200">
                <a:solidFill>
                  <a:schemeClr val="dk1"/>
                </a:solidFill>
                <a:latin typeface="Trebuchet MS"/>
                <a:ea typeface="Trebuchet MS"/>
                <a:cs typeface="Trebuchet MS"/>
                <a:sym typeface="Trebuchet MS"/>
              </a:rPr>
              <a:t> Investigating why certain operational windows (specifically the dry summer transition) fail financially, and identifying which technical variables predict peak yield.</a:t>
            </a:r>
            <a:endParaRPr sz="2200">
              <a:solidFill>
                <a:schemeClr val="dk1"/>
              </a:solidFill>
              <a:latin typeface="Trebuchet MS"/>
              <a:ea typeface="Trebuchet MS"/>
              <a:cs typeface="Trebuchet MS"/>
              <a:sym typeface="Trebuchet MS"/>
            </a:endParaRPr>
          </a:p>
          <a:p>
            <a:pPr indent="0" lvl="0" marL="0" rtl="0" algn="l">
              <a:lnSpc>
                <a:spcPct val="90000"/>
              </a:lnSpc>
              <a:spcBef>
                <a:spcPts val="900"/>
              </a:spcBef>
              <a:spcAft>
                <a:spcPts val="0"/>
              </a:spcAft>
              <a:buNone/>
            </a:pPr>
            <a:r>
              <a:t/>
            </a:r>
            <a:endParaRPr sz="22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ppt_w</p:attrName>
                                        </p:attrNameLst>
                                      </p:cBhvr>
                                      <p:tavLst>
                                        <p:tav fmla="" tm="0">
                                          <p:val>
                                            <p:strVal val="0"/>
                                          </p:val>
                                        </p:tav>
                                        <p:tav fmla="" tm="100000">
                                          <p:val>
                                            <p:strVal val="#ppt_w"/>
                                          </p:val>
                                        </p:tav>
                                      </p:tavLst>
                                    </p:anim>
                                    <p:anim calcmode="lin" valueType="num">
                                      <p:cBhvr additive="base">
                                        <p:cTn dur="500"/>
                                        <p:tgtEl>
                                          <p:spTgt spid="21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fa5a01509b_2_211"/>
          <p:cNvSpPr txBox="1"/>
          <p:nvPr>
            <p:ph idx="1" type="body"/>
          </p:nvPr>
        </p:nvSpPr>
        <p:spPr>
          <a:xfrm>
            <a:off x="513150" y="1111525"/>
            <a:ext cx="11165700" cy="5315400"/>
          </a:xfrm>
          <a:prstGeom prst="rect">
            <a:avLst/>
          </a:prstGeom>
        </p:spPr>
        <p:txBody>
          <a:bodyPr anchorCtr="0" anchor="t" bIns="45700" lIns="91425" spcFirstLastPara="1" rIns="91425" wrap="square" tIns="45700">
            <a:noAutofit/>
          </a:bodyPr>
          <a:lstStyle/>
          <a:p>
            <a:pPr indent="-349250" lvl="0" marL="457200" marR="0" rtl="0" algn="l">
              <a:lnSpc>
                <a:spcPct val="115000"/>
              </a:lnSpc>
              <a:spcBef>
                <a:spcPts val="0"/>
              </a:spcBef>
              <a:spcAft>
                <a:spcPts val="0"/>
              </a:spcAft>
              <a:buClr>
                <a:schemeClr val="dk1"/>
              </a:buClr>
              <a:buSzPts val="1900"/>
              <a:buChar char="●"/>
            </a:pPr>
            <a:r>
              <a:rPr b="1" lang="en-US" sz="1900">
                <a:solidFill>
                  <a:schemeClr val="dk1"/>
                </a:solidFill>
              </a:rPr>
              <a:t>Data Shape:</a:t>
            </a:r>
            <a:r>
              <a:rPr lang="en-US" sz="1900">
                <a:solidFill>
                  <a:schemeClr val="dk1"/>
                </a:solidFill>
              </a:rPr>
              <a:t> 4000 farm observations spanning 28 multi-dimensional variables.</a:t>
            </a:r>
            <a:endParaRPr sz="1900">
              <a:solidFill>
                <a:schemeClr val="dk1"/>
              </a:solidFill>
            </a:endParaRPr>
          </a:p>
          <a:p>
            <a:pPr indent="0" lvl="0" marL="457200" marR="0" rtl="0" algn="l">
              <a:lnSpc>
                <a:spcPct val="115000"/>
              </a:lnSpc>
              <a:spcBef>
                <a:spcPts val="900"/>
              </a:spcBef>
              <a:spcAft>
                <a:spcPts val="0"/>
              </a:spcAft>
              <a:buNone/>
            </a:pPr>
            <a:r>
              <a:t/>
            </a:r>
            <a:endParaRPr sz="1900">
              <a:solidFill>
                <a:schemeClr val="dk1"/>
              </a:solidFill>
            </a:endParaRPr>
          </a:p>
          <a:p>
            <a:pPr indent="0" lvl="0" marL="457200" marR="0" rtl="0" algn="l">
              <a:lnSpc>
                <a:spcPct val="115000"/>
              </a:lnSpc>
              <a:spcBef>
                <a:spcPts val="900"/>
              </a:spcBef>
              <a:spcAft>
                <a:spcPts val="0"/>
              </a:spcAft>
              <a:buNone/>
            </a:pPr>
            <a:r>
              <a:rPr b="1" lang="en-US" sz="1900" u="sng">
                <a:solidFill>
                  <a:schemeClr val="dk1"/>
                </a:solidFill>
              </a:rPr>
              <a:t>Analytical Features(The Four Pillars):</a:t>
            </a:r>
            <a:endParaRPr b="1" sz="1900" u="sng">
              <a:solidFill>
                <a:schemeClr val="dk1"/>
              </a:solidFill>
            </a:endParaRPr>
          </a:p>
          <a:p>
            <a:pPr indent="-349250" lvl="0" marL="457200" marR="0" rtl="0" algn="l">
              <a:lnSpc>
                <a:spcPct val="115000"/>
              </a:lnSpc>
              <a:spcBef>
                <a:spcPts val="900"/>
              </a:spcBef>
              <a:spcAft>
                <a:spcPts val="0"/>
              </a:spcAft>
              <a:buClr>
                <a:schemeClr val="dk1"/>
              </a:buClr>
              <a:buSzPts val="1900"/>
              <a:buChar char="●"/>
            </a:pPr>
            <a:r>
              <a:rPr lang="en-US" sz="1900">
                <a:solidFill>
                  <a:schemeClr val="dk1"/>
                </a:solidFill>
              </a:rPr>
              <a:t>Geographic &amp; Temporal Baselines: </a:t>
            </a:r>
            <a:r>
              <a:rPr b="1" lang="en-US" sz="1900">
                <a:solidFill>
                  <a:schemeClr val="dk1"/>
                </a:solidFill>
              </a:rPr>
              <a:t>Farm_ID, State, District, Crop, Season.</a:t>
            </a:r>
            <a:endParaRPr b="1"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Natural Environmental Controls: </a:t>
            </a:r>
            <a:r>
              <a:rPr b="1" lang="en-US" sz="1900">
                <a:solidFill>
                  <a:schemeClr val="dk1"/>
                </a:solidFill>
              </a:rPr>
              <a:t>Rainfall_mm, Avg_Temperature_C, Humidity_pct, Soil_pH, Soil_Moisture_pct.</a:t>
            </a:r>
            <a:endParaRPr b="1"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Human Technical Controls: </a:t>
            </a:r>
            <a:r>
              <a:rPr b="1" lang="en-US" sz="1900">
                <a:solidFill>
                  <a:schemeClr val="dk1"/>
                </a:solidFill>
              </a:rPr>
              <a:t>Irrigation_Method, Fertilizer_kg_ha, Pesticide_Litre_ha, Seed_Quality_Score, NPK inputs.</a:t>
            </a:r>
            <a:endParaRPr b="1" sz="1900">
              <a:solidFill>
                <a:schemeClr val="dk1"/>
              </a:solidFill>
            </a:endParaRPr>
          </a:p>
          <a:p>
            <a:pPr indent="-349250" lvl="0" marL="457200" marR="0" rtl="0" algn="l">
              <a:lnSpc>
                <a:spcPct val="115000"/>
              </a:lnSpc>
              <a:spcBef>
                <a:spcPts val="0"/>
              </a:spcBef>
              <a:spcAft>
                <a:spcPts val="0"/>
              </a:spcAft>
              <a:buClr>
                <a:schemeClr val="dk1"/>
              </a:buClr>
              <a:buSzPts val="1900"/>
              <a:buChar char="●"/>
            </a:pPr>
            <a:r>
              <a:rPr lang="en-US" sz="1900">
                <a:solidFill>
                  <a:schemeClr val="dk1"/>
                </a:solidFill>
              </a:rPr>
              <a:t>Performance Targets (KPIs): </a:t>
            </a:r>
            <a:r>
              <a:rPr b="1" lang="en-US" sz="1900">
                <a:solidFill>
                  <a:schemeClr val="dk1"/>
                </a:solidFill>
              </a:rPr>
              <a:t>Yield_Tonnes_Ha, Production_Tonnes, Total_Cost_INR, Profit_INR.</a:t>
            </a:r>
            <a:endParaRPr b="1" sz="1900">
              <a:solidFill>
                <a:schemeClr val="dk1"/>
              </a:solidFill>
            </a:endParaRPr>
          </a:p>
          <a:p>
            <a:pPr indent="0" lvl="0" marL="457200" marR="0" rtl="0" algn="l">
              <a:lnSpc>
                <a:spcPct val="115000"/>
              </a:lnSpc>
              <a:spcBef>
                <a:spcPts val="900"/>
              </a:spcBef>
              <a:spcAft>
                <a:spcPts val="0"/>
              </a:spcAft>
              <a:buNone/>
            </a:pPr>
            <a:r>
              <a:t/>
            </a:r>
            <a:endParaRPr sz="1900">
              <a:solidFill>
                <a:schemeClr val="dk1"/>
              </a:solidFill>
            </a:endParaRPr>
          </a:p>
          <a:p>
            <a:pPr indent="-349250" lvl="0" marL="457200" marR="0" rtl="0" algn="l">
              <a:lnSpc>
                <a:spcPct val="115000"/>
              </a:lnSpc>
              <a:spcBef>
                <a:spcPts val="900"/>
              </a:spcBef>
              <a:spcAft>
                <a:spcPts val="0"/>
              </a:spcAft>
              <a:buClr>
                <a:schemeClr val="dk1"/>
              </a:buClr>
              <a:buSzPts val="1900"/>
              <a:buChar char="●"/>
            </a:pPr>
            <a:r>
              <a:rPr b="1" lang="en-US" sz="1900">
                <a:solidFill>
                  <a:schemeClr val="dk1"/>
                </a:solidFill>
              </a:rPr>
              <a:t>Data Characteristics Disclaimer:</a:t>
            </a:r>
            <a:r>
              <a:rPr lang="en-US" sz="1900">
                <a:solidFill>
                  <a:schemeClr val="dk1"/>
                </a:solidFill>
              </a:rPr>
              <a:t> A rigorous diagnostic audit proved the data is algorithmically simulated (synthetic) due to explicit geopolitical cross-contamination (e.g., matching Punjab with Warangal) and fixed algebraic multi-collinearity equations.</a:t>
            </a:r>
            <a:endParaRPr sz="1900">
              <a:solidFill>
                <a:schemeClr val="dk1"/>
              </a:solidFill>
              <a:latin typeface="Arial"/>
              <a:ea typeface="Arial"/>
              <a:cs typeface="Arial"/>
              <a:sym typeface="Arial"/>
            </a:endParaRPr>
          </a:p>
        </p:txBody>
      </p:sp>
      <p:sp>
        <p:nvSpPr>
          <p:cNvPr id="225" name="Google Shape;225;g3fa5a01509b_2_211"/>
          <p:cNvSpPr txBox="1"/>
          <p:nvPr>
            <p:ph type="title"/>
          </p:nvPr>
        </p:nvSpPr>
        <p:spPr>
          <a:xfrm>
            <a:off x="647700" y="93400"/>
            <a:ext cx="6768600" cy="831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u="sng"/>
              <a:t>Dataset Description</a:t>
            </a:r>
            <a:endParaRPr u="sng"/>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
          <p:cNvSpPr txBox="1"/>
          <p:nvPr>
            <p:ph idx="1" type="body"/>
          </p:nvPr>
        </p:nvSpPr>
        <p:spPr>
          <a:xfrm>
            <a:off x="721350" y="1991350"/>
            <a:ext cx="10114500" cy="4185300"/>
          </a:xfrm>
          <a:prstGeom prst="rect">
            <a:avLst/>
          </a:prstGeom>
          <a:noFill/>
          <a:ln>
            <a:noFill/>
          </a:ln>
        </p:spPr>
        <p:txBody>
          <a:bodyPr anchorCtr="0" anchor="t" bIns="45700" lIns="91425" spcFirstLastPara="1" rIns="91425" wrap="square" tIns="45700">
            <a:noAutofit/>
          </a:bodyPr>
          <a:lstStyle/>
          <a:p>
            <a:pPr indent="-370523" lvl="0" marL="457200" rtl="0" algn="l">
              <a:lnSpc>
                <a:spcPct val="95000"/>
              </a:lnSpc>
              <a:spcBef>
                <a:spcPts val="0"/>
              </a:spcBef>
              <a:spcAft>
                <a:spcPts val="0"/>
              </a:spcAft>
              <a:buClr>
                <a:schemeClr val="dk1"/>
              </a:buClr>
              <a:buSzPts val="2235"/>
              <a:buChar char="●"/>
            </a:pPr>
            <a:r>
              <a:rPr b="1" lang="en-US" sz="2235">
                <a:solidFill>
                  <a:schemeClr val="dk1"/>
                </a:solidFill>
              </a:rPr>
              <a:t>Agricultural Extension Officers &amp; Agronomists:</a:t>
            </a:r>
            <a:r>
              <a:rPr lang="en-US" sz="2235">
                <a:solidFill>
                  <a:schemeClr val="dk1"/>
                </a:solidFill>
              </a:rPr>
              <a:t> To discover rigid, non-customized input patterns (such as fertilizer application staying stuck at a uniform median of </a:t>
            </a:r>
            <a:r>
              <a:rPr b="1" lang="en-US" sz="2235">
                <a:solidFill>
                  <a:schemeClr val="dk1"/>
                </a:solidFill>
              </a:rPr>
              <a:t>~185 kg/ha</a:t>
            </a:r>
            <a:r>
              <a:rPr lang="en-US" sz="2235">
                <a:solidFill>
                  <a:schemeClr val="dk1"/>
                </a:solidFill>
              </a:rPr>
              <a:t> across all modern and traditional fields).</a:t>
            </a:r>
            <a:endParaRPr sz="2235">
              <a:solidFill>
                <a:schemeClr val="dk1"/>
              </a:solidFill>
            </a:endParaRPr>
          </a:p>
          <a:p>
            <a:pPr indent="-370523" lvl="0" marL="457200" rtl="0" algn="l">
              <a:lnSpc>
                <a:spcPct val="95000"/>
              </a:lnSpc>
              <a:spcBef>
                <a:spcPts val="0"/>
              </a:spcBef>
              <a:spcAft>
                <a:spcPts val="0"/>
              </a:spcAft>
              <a:buClr>
                <a:schemeClr val="dk1"/>
              </a:buClr>
              <a:buSzPts val="2235"/>
              <a:buChar char="●"/>
            </a:pPr>
            <a:r>
              <a:rPr b="1" lang="en-US" sz="2235">
                <a:solidFill>
                  <a:schemeClr val="dk1"/>
                </a:solidFill>
              </a:rPr>
              <a:t>AgTech Policy Makers &amp; Planning Committees:</a:t>
            </a:r>
            <a:r>
              <a:rPr lang="en-US" sz="2235">
                <a:solidFill>
                  <a:schemeClr val="dk1"/>
                </a:solidFill>
              </a:rPr>
              <a:t> To target structural regional investment—such as mandating targeted precision drip infrastructure to alleviate the </a:t>
            </a:r>
            <a:r>
              <a:rPr b="1" lang="en-US" sz="2235">
                <a:solidFill>
                  <a:schemeClr val="dk1"/>
                </a:solidFill>
              </a:rPr>
              <a:t>-15.66 million INR total loss deficit</a:t>
            </a:r>
            <a:r>
              <a:rPr lang="en-US" sz="2235">
                <a:solidFill>
                  <a:schemeClr val="dk1"/>
                </a:solidFill>
              </a:rPr>
              <a:t> during the dry summer window.</a:t>
            </a:r>
            <a:endParaRPr sz="2235">
              <a:solidFill>
                <a:schemeClr val="dk1"/>
              </a:solidFill>
            </a:endParaRPr>
          </a:p>
          <a:p>
            <a:pPr indent="-370523" lvl="0" marL="457200" rtl="0" algn="l">
              <a:lnSpc>
                <a:spcPct val="95000"/>
              </a:lnSpc>
              <a:spcBef>
                <a:spcPts val="0"/>
              </a:spcBef>
              <a:spcAft>
                <a:spcPts val="0"/>
              </a:spcAft>
              <a:buClr>
                <a:schemeClr val="dk1"/>
              </a:buClr>
              <a:buSzPts val="2235"/>
              <a:buChar char="●"/>
            </a:pPr>
            <a:r>
              <a:rPr b="1" lang="en-US" sz="2235">
                <a:solidFill>
                  <a:schemeClr val="dk1"/>
                </a:solidFill>
              </a:rPr>
              <a:t>Farming Cooperatives &amp; Financial Risk Managers:</a:t>
            </a:r>
            <a:r>
              <a:rPr lang="en-US" sz="2235">
                <a:solidFill>
                  <a:schemeClr val="dk1"/>
                </a:solidFill>
              </a:rPr>
              <a:t> To evaluate crop selection strategies based on the </a:t>
            </a:r>
            <a:r>
              <a:rPr i="1" lang="en-US" sz="2235">
                <a:solidFill>
                  <a:schemeClr val="dk1"/>
                </a:solidFill>
              </a:rPr>
              <a:t>Grain Commodity Valuation Paradox</a:t>
            </a:r>
            <a:r>
              <a:rPr lang="en-US" sz="2235">
                <a:solidFill>
                  <a:schemeClr val="dk1"/>
                </a:solidFill>
              </a:rPr>
              <a:t> (understanding that staple grains act as economic cash traps while low-yield cash crops like Chilli optimize net profit margins).</a:t>
            </a:r>
            <a:endParaRPr sz="2235">
              <a:solidFill>
                <a:schemeClr val="dk1"/>
              </a:solidFill>
            </a:endParaRPr>
          </a:p>
          <a:p>
            <a:pPr indent="-370523" lvl="0" marL="457200" rtl="0" algn="just">
              <a:lnSpc>
                <a:spcPct val="130000"/>
              </a:lnSpc>
              <a:spcBef>
                <a:spcPts val="0"/>
              </a:spcBef>
              <a:spcAft>
                <a:spcPts val="0"/>
              </a:spcAft>
              <a:buSzPts val="2235"/>
              <a:buChar char="●"/>
            </a:pPr>
            <a:r>
              <a:t/>
            </a:r>
            <a:endParaRPr sz="2235"/>
          </a:p>
        </p:txBody>
      </p:sp>
      <p:sp>
        <p:nvSpPr>
          <p:cNvPr id="231" name="Google Shape;231;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u="sng"/>
              <a:t>WHO ARE THE END USERS?</a:t>
            </a:r>
            <a:endParaRPr sz="20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ppt_w</p:attrName>
                                        </p:attrNameLst>
                                      </p:cBhvr>
                                      <p:tavLst>
                                        <p:tav fmla="" tm="0">
                                          <p:val>
                                            <p:strVal val="0"/>
                                          </p:val>
                                        </p:tav>
                                        <p:tav fmla="" tm="100000">
                                          <p:val>
                                            <p:strVal val="#ppt_w"/>
                                          </p:val>
                                        </p:tav>
                                      </p:tavLst>
                                    </p:anim>
                                    <p:anim calcmode="lin" valueType="num">
                                      <p:cBhvr additive="base">
                                        <p:cTn dur="500"/>
                                        <p:tgtEl>
                                          <p:spTgt spid="2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fa5a01509b_2_202"/>
          <p:cNvSpPr txBox="1"/>
          <p:nvPr>
            <p:ph idx="1" type="body"/>
          </p:nvPr>
        </p:nvSpPr>
        <p:spPr>
          <a:xfrm>
            <a:off x="647700" y="1010125"/>
            <a:ext cx="11238600" cy="5256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rPr>
              <a:t>Insight 1: The Crop Biomass Tier Split</a:t>
            </a:r>
            <a:endParaRPr b="1" sz="1900">
              <a:solidFill>
                <a:schemeClr val="dk1"/>
              </a:solidFill>
            </a:endParaRPr>
          </a:p>
          <a:p>
            <a:pPr indent="-349250" lvl="0" marL="457200" rtl="0" algn="l">
              <a:lnSpc>
                <a:spcPct val="115000"/>
              </a:lnSpc>
              <a:spcBef>
                <a:spcPts val="1100"/>
              </a:spcBef>
              <a:spcAft>
                <a:spcPts val="0"/>
              </a:spcAft>
              <a:buClr>
                <a:schemeClr val="dk1"/>
              </a:buClr>
              <a:buSzPts val="1900"/>
              <a:buFont typeface="Arial"/>
              <a:buChar char="●"/>
            </a:pPr>
            <a:r>
              <a:rPr b="1" lang="en-US" sz="1900">
                <a:solidFill>
                  <a:schemeClr val="dk1"/>
                </a:solidFill>
              </a:rPr>
              <a:t>Observation:</a:t>
            </a:r>
            <a:r>
              <a:rPr lang="en-US" sz="1900">
                <a:solidFill>
                  <a:schemeClr val="dk1"/>
                </a:solidFill>
              </a:rPr>
              <a:t> Crop productivity behaves as a stark, multi-tiered system where a single specialized crop type functions entirely separate from standard agricultural baselines.</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Evidence:</a:t>
            </a:r>
            <a:r>
              <a:rPr lang="en-US" sz="1900">
                <a:solidFill>
                  <a:schemeClr val="dk1"/>
                </a:solidFill>
              </a:rPr>
              <a:t> The multivariate crop-season summary table (In[42]) and the grouped bar plots reveal that Sugarcane stands completely isolated, achieving average yields between 38.42 and 53.46 tonnes/ha alongside elite water efficiency metrics (23.39 to 36.00 t/1000m³), while all other varieties (Rice, Wheat, Maize, Chilli, Groundnut, Cotton, and Pulses) remain locked below a strict 3.0 tonnes/ha ceiling.</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Interpretation:</a:t>
            </a:r>
            <a:r>
              <a:rPr lang="en-US" sz="1900">
                <a:solidFill>
                  <a:schemeClr val="dk1"/>
                </a:solidFill>
              </a:rPr>
              <a:t> This indicates that the dataset contains two fundamentally different biological profiles. The extreme vertical separation suggests that downstream linear machine learning models will suffer from severe residual errors if they attempt to predict global yields without explicitly handling or splitting Sugarcane from baseline commodity crops.</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Limitation:</a:t>
            </a:r>
            <a:r>
              <a:rPr lang="en-US" sz="1900">
                <a:solidFill>
                  <a:schemeClr val="dk1"/>
                </a:solidFill>
              </a:rPr>
              <a:t> It should not be assumed that cultivating Sugarcane guarantees high operational efficiency under all environmental circumstances; local stressors or management breakdowns can still reduce its returns to standard baseline floors.</a:t>
            </a:r>
            <a:endParaRPr sz="1900">
              <a:solidFill>
                <a:schemeClr val="dk1"/>
              </a:solidFill>
            </a:endParaRPr>
          </a:p>
          <a:p>
            <a:pPr indent="0" lvl="0" marL="0" rtl="0" algn="l">
              <a:spcBef>
                <a:spcPts val="1100"/>
              </a:spcBef>
              <a:spcAft>
                <a:spcPts val="0"/>
              </a:spcAft>
              <a:buNone/>
            </a:pPr>
            <a:r>
              <a:t/>
            </a:r>
            <a:endParaRPr sz="1900"/>
          </a:p>
        </p:txBody>
      </p:sp>
      <p:sp>
        <p:nvSpPr>
          <p:cNvPr id="238" name="Google Shape;238;g3fa5a01509b_2_202"/>
          <p:cNvSpPr txBox="1"/>
          <p:nvPr>
            <p:ph type="title"/>
          </p:nvPr>
        </p:nvSpPr>
        <p:spPr>
          <a:xfrm>
            <a:off x="647700" y="91763"/>
            <a:ext cx="4275000" cy="831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u="sng"/>
              <a:t>Key Insights</a:t>
            </a:r>
            <a:endParaRPr u="sng"/>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fa5a01509b_2_225"/>
          <p:cNvSpPr txBox="1"/>
          <p:nvPr>
            <p:ph idx="1" type="body"/>
          </p:nvPr>
        </p:nvSpPr>
        <p:spPr>
          <a:xfrm>
            <a:off x="660400" y="1243475"/>
            <a:ext cx="11238600" cy="5256300"/>
          </a:xfrm>
          <a:prstGeom prst="rect">
            <a:avLst/>
          </a:prstGeom>
        </p:spPr>
        <p:txBody>
          <a:bodyPr anchorCtr="0" anchor="t" bIns="45700" lIns="91425" spcFirstLastPara="1" rIns="91425" wrap="square" tIns="45700">
            <a:noAutofit/>
          </a:bodyPr>
          <a:lstStyle/>
          <a:p>
            <a:pPr indent="0" lvl="0" marL="0" rtl="0" algn="l">
              <a:lnSpc>
                <a:spcPct val="115000"/>
              </a:lnSpc>
              <a:spcBef>
                <a:spcPts val="1100"/>
              </a:spcBef>
              <a:spcAft>
                <a:spcPts val="0"/>
              </a:spcAft>
              <a:buNone/>
            </a:pPr>
            <a:r>
              <a:rPr b="1" lang="en-US" sz="1900">
                <a:solidFill>
                  <a:schemeClr val="dk1"/>
                </a:solidFill>
              </a:rPr>
              <a:t>Insight 2: The Grain Commodity Valuation Paradox</a:t>
            </a:r>
            <a:endParaRPr b="1" sz="1900">
              <a:solidFill>
                <a:schemeClr val="dk1"/>
              </a:solidFill>
            </a:endParaRPr>
          </a:p>
          <a:p>
            <a:pPr indent="-349250" lvl="0" marL="457200" rtl="0" algn="l">
              <a:lnSpc>
                <a:spcPct val="115000"/>
              </a:lnSpc>
              <a:spcBef>
                <a:spcPts val="1100"/>
              </a:spcBef>
              <a:spcAft>
                <a:spcPts val="0"/>
              </a:spcAft>
              <a:buClr>
                <a:schemeClr val="dk1"/>
              </a:buClr>
              <a:buSzPts val="1900"/>
              <a:buFont typeface="Arial"/>
              <a:buChar char="●"/>
            </a:pPr>
            <a:r>
              <a:rPr b="1" lang="en-US" sz="1900">
                <a:solidFill>
                  <a:schemeClr val="dk1"/>
                </a:solidFill>
              </a:rPr>
              <a:t>Observation:</a:t>
            </a:r>
            <a:r>
              <a:rPr lang="en-US" sz="1900">
                <a:solidFill>
                  <a:schemeClr val="dk1"/>
                </a:solidFill>
              </a:rPr>
              <a:t> High physical volume output does not correspond to positive economic viability, with core staple grains acting as persistent financial deficits.</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Evidence:</a:t>
            </a:r>
            <a:r>
              <a:rPr lang="en-US" sz="1900">
                <a:solidFill>
                  <a:schemeClr val="dk1"/>
                </a:solidFill>
              </a:rPr>
              <a:t> The multi-level agricultural matrix (In[42]) demonstrates that staple grains like Maize, Rice, and Wheat consistently generate net-negative average profits across all three seasons (plunging as low as -227,239.34 INR for Zaid Rice), whereas low-volume crops like Chilli yield exceptional average profit windfalls up to 959,406.84 INR despite low physical tonnage.</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Interpretation:</a:t>
            </a:r>
            <a:r>
              <a:rPr lang="en-US" sz="1900">
                <a:solidFill>
                  <a:schemeClr val="dk1"/>
                </a:solidFill>
              </a:rPr>
              <a:t> The evidence indicates a profound market valuation mismatch within the simulated agricultural economy. The financial viability of a farm is governed far more by the market value tier of the specific crop type rather than the absolute physical volume generated by the land.</a:t>
            </a:r>
            <a:endParaRPr sz="1900">
              <a:solidFill>
                <a:schemeClr val="dk1"/>
              </a:solidFill>
            </a:endParaRPr>
          </a:p>
          <a:p>
            <a:pPr indent="-349250" lvl="0" marL="457200" rtl="0" algn="l">
              <a:lnSpc>
                <a:spcPct val="115000"/>
              </a:lnSpc>
              <a:spcBef>
                <a:spcPts val="0"/>
              </a:spcBef>
              <a:spcAft>
                <a:spcPts val="0"/>
              </a:spcAft>
              <a:buClr>
                <a:schemeClr val="dk1"/>
              </a:buClr>
              <a:buSzPts val="1900"/>
              <a:buFont typeface="Arial"/>
              <a:buChar char="●"/>
            </a:pPr>
            <a:r>
              <a:rPr b="1" lang="en-US" sz="1900">
                <a:solidFill>
                  <a:schemeClr val="dk1"/>
                </a:solidFill>
              </a:rPr>
              <a:t>Limitation:</a:t>
            </a:r>
            <a:r>
              <a:rPr lang="en-US" sz="1900">
                <a:solidFill>
                  <a:schemeClr val="dk1"/>
                </a:solidFill>
              </a:rPr>
              <a:t> This association does not prove that growing staple grains causes financial failure; these deficits are reflections of the specific cost-to-price balance hardcoded into this simulation and may change under alternative economic frameworks.</a:t>
            </a:r>
            <a:endParaRPr sz="1900">
              <a:solidFill>
                <a:schemeClr val="dk1"/>
              </a:solidFill>
            </a:endParaRPr>
          </a:p>
          <a:p>
            <a:pPr indent="0" lvl="0" marL="0" rtl="0" algn="l">
              <a:spcBef>
                <a:spcPts val="1100"/>
              </a:spcBef>
              <a:spcAft>
                <a:spcPts val="0"/>
              </a:spcAft>
              <a:buNone/>
            </a:pPr>
            <a:r>
              <a:t/>
            </a:r>
            <a:endParaRPr b="1" sz="1900">
              <a:solidFill>
                <a:schemeClr val="dk1"/>
              </a:solidFill>
            </a:endParaRPr>
          </a:p>
        </p:txBody>
      </p:sp>
      <p:sp>
        <p:nvSpPr>
          <p:cNvPr id="245" name="Google Shape;245;g3fa5a01509b_2_225"/>
          <p:cNvSpPr txBox="1"/>
          <p:nvPr>
            <p:ph type="title"/>
          </p:nvPr>
        </p:nvSpPr>
        <p:spPr>
          <a:xfrm>
            <a:off x="647700" y="179113"/>
            <a:ext cx="4275000" cy="8310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US" u="sng"/>
              <a:t>Key Insights</a:t>
            </a:r>
            <a:endParaRPr u="sng"/>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50" name="Shape 250"/>
        <p:cNvGrpSpPr/>
        <p:nvPr/>
      </p:nvGrpSpPr>
      <p:grpSpPr>
        <a:xfrm>
          <a:off x="0" y="0"/>
          <a:ext cx="0" cy="0"/>
          <a:chOff x="0" y="0"/>
          <a:chExt cx="0" cy="0"/>
        </a:xfrm>
      </p:grpSpPr>
      <p:pic>
        <p:nvPicPr>
          <p:cNvPr id="251" name="Google Shape;251;p5"/>
          <p:cNvPicPr preferRelativeResize="0"/>
          <p:nvPr/>
        </p:nvPicPr>
        <p:blipFill rotWithShape="1">
          <a:blip r:embed="rId3">
            <a:alphaModFix/>
          </a:blip>
          <a:srcRect b="0" l="0" r="0" t="0"/>
          <a:stretch/>
        </p:blipFill>
        <p:spPr>
          <a:xfrm flipH="1">
            <a:off x="10214050" y="276660"/>
            <a:ext cx="1727200" cy="3010025"/>
          </a:xfrm>
          <a:prstGeom prst="rect">
            <a:avLst/>
          </a:prstGeom>
          <a:noFill/>
          <a:ln>
            <a:noFill/>
          </a:ln>
        </p:spPr>
      </p:pic>
      <p:sp>
        <p:nvSpPr>
          <p:cNvPr id="252" name="Google Shape;252;p5"/>
          <p:cNvSpPr txBox="1"/>
          <p:nvPr>
            <p:ph idx="1" type="body"/>
          </p:nvPr>
        </p:nvSpPr>
        <p:spPr>
          <a:xfrm>
            <a:off x="660400" y="1614600"/>
            <a:ext cx="10285200" cy="45957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200"/>
              <a:buFont typeface="Arial"/>
              <a:buNone/>
            </a:pPr>
            <a:r>
              <a:rPr b="1" lang="en-US" sz="2200">
                <a:solidFill>
                  <a:schemeClr val="dk1"/>
                </a:solidFill>
              </a:rPr>
              <a:t>Programming Language &amp; Environment :</a:t>
            </a:r>
            <a:r>
              <a:rPr lang="en-US" sz="2200">
                <a:solidFill>
                  <a:schemeClr val="dk1"/>
                </a:solidFill>
              </a:rPr>
              <a:t> Python 3.x, Jupyter Notebook</a:t>
            </a:r>
            <a:endParaRPr sz="2200">
              <a:solidFill>
                <a:schemeClr val="dk1"/>
              </a:solidFill>
            </a:endParaRPr>
          </a:p>
          <a:p>
            <a:pPr indent="0" lvl="0" marL="0" rtl="0" algn="l">
              <a:lnSpc>
                <a:spcPct val="115000"/>
              </a:lnSpc>
              <a:spcBef>
                <a:spcPts val="900"/>
              </a:spcBef>
              <a:spcAft>
                <a:spcPts val="0"/>
              </a:spcAft>
              <a:buClr>
                <a:schemeClr val="dk1"/>
              </a:buClr>
              <a:buSzPts val="1200"/>
              <a:buFont typeface="Arial"/>
              <a:buNone/>
            </a:pPr>
            <a:r>
              <a:rPr b="1" lang="en-US" sz="2200">
                <a:solidFill>
                  <a:schemeClr val="dk1"/>
                </a:solidFill>
              </a:rPr>
              <a:t>Data Engineering &amp; Ingestion Matrix:</a:t>
            </a:r>
            <a:r>
              <a:rPr lang="en-US" sz="2200">
                <a:solidFill>
                  <a:schemeClr val="dk1"/>
                </a:solidFill>
              </a:rPr>
              <a:t> </a:t>
            </a:r>
            <a:r>
              <a:rPr lang="en-US" sz="2200">
                <a:solidFill>
                  <a:srgbClr val="188038"/>
                </a:solidFill>
              </a:rPr>
              <a:t>Pandas</a:t>
            </a:r>
            <a:r>
              <a:rPr lang="en-US" sz="2200">
                <a:solidFill>
                  <a:schemeClr val="dk1"/>
                </a:solidFill>
              </a:rPr>
              <a:t> (for multi-level seasonal groupings, localized missing value imputations, and feature aggregation workflows).</a:t>
            </a:r>
            <a:endParaRPr sz="2200">
              <a:solidFill>
                <a:schemeClr val="dk1"/>
              </a:solidFill>
            </a:endParaRPr>
          </a:p>
          <a:p>
            <a:pPr indent="0" lvl="0" marL="0" rtl="0" algn="l">
              <a:lnSpc>
                <a:spcPct val="115000"/>
              </a:lnSpc>
              <a:spcBef>
                <a:spcPts val="900"/>
              </a:spcBef>
              <a:spcAft>
                <a:spcPts val="0"/>
              </a:spcAft>
              <a:buClr>
                <a:schemeClr val="dk1"/>
              </a:buClr>
              <a:buSzPts val="1200"/>
              <a:buFont typeface="Arial"/>
              <a:buNone/>
            </a:pPr>
            <a:r>
              <a:rPr b="1" lang="en-US" sz="2200">
                <a:solidFill>
                  <a:schemeClr val="dk1"/>
                </a:solidFill>
              </a:rPr>
              <a:t>Numerical Computation Engine:</a:t>
            </a:r>
            <a:r>
              <a:rPr lang="en-US" sz="2200">
                <a:solidFill>
                  <a:schemeClr val="dk1"/>
                </a:solidFill>
              </a:rPr>
              <a:t> </a:t>
            </a:r>
            <a:r>
              <a:rPr lang="en-US" sz="2200">
                <a:solidFill>
                  <a:srgbClr val="188038"/>
                </a:solidFill>
              </a:rPr>
              <a:t>NumPy</a:t>
            </a:r>
            <a:r>
              <a:rPr lang="en-US" sz="2200">
                <a:solidFill>
                  <a:schemeClr val="dk1"/>
                </a:solidFill>
              </a:rPr>
              <a:t> (for matrix mathematical evaluations and geometric scale boundaries).</a:t>
            </a:r>
            <a:endParaRPr sz="2200">
              <a:solidFill>
                <a:schemeClr val="dk1"/>
              </a:solidFill>
            </a:endParaRPr>
          </a:p>
          <a:p>
            <a:pPr indent="0" lvl="0" marL="0" rtl="0" algn="l">
              <a:lnSpc>
                <a:spcPct val="115000"/>
              </a:lnSpc>
              <a:spcBef>
                <a:spcPts val="900"/>
              </a:spcBef>
              <a:spcAft>
                <a:spcPts val="0"/>
              </a:spcAft>
              <a:buClr>
                <a:schemeClr val="dk1"/>
              </a:buClr>
              <a:buSzPts val="1200"/>
              <a:buFont typeface="Arial"/>
              <a:buNone/>
            </a:pPr>
            <a:r>
              <a:rPr b="1" lang="en-US" sz="2200">
                <a:solidFill>
                  <a:schemeClr val="dk1"/>
                </a:solidFill>
              </a:rPr>
              <a:t>Exploratory Data Visualization Suite:</a:t>
            </a:r>
            <a:r>
              <a:rPr lang="en-US" sz="2200">
                <a:solidFill>
                  <a:schemeClr val="dk1"/>
                </a:solidFill>
              </a:rPr>
              <a:t> </a:t>
            </a:r>
            <a:r>
              <a:rPr lang="en-US" sz="2200">
                <a:solidFill>
                  <a:srgbClr val="188038"/>
                </a:solidFill>
              </a:rPr>
              <a:t>Matplotlib</a:t>
            </a:r>
            <a:r>
              <a:rPr lang="en-US" sz="2200">
                <a:solidFill>
                  <a:schemeClr val="dk1"/>
                </a:solidFill>
              </a:rPr>
              <a:t> and </a:t>
            </a:r>
            <a:r>
              <a:rPr lang="en-US" sz="2200">
                <a:solidFill>
                  <a:srgbClr val="188038"/>
                </a:solidFill>
              </a:rPr>
              <a:t>Seaborn</a:t>
            </a:r>
            <a:r>
              <a:rPr lang="en-US" sz="2200">
                <a:solidFill>
                  <a:schemeClr val="dk1"/>
                </a:solidFill>
              </a:rPr>
              <a:t> (for rendering multi-panel canvas grids, overlaying box/strip plots for outlier profiling, and computing correlation matrix heatmaps).</a:t>
            </a:r>
            <a:endParaRPr sz="2200">
              <a:solidFill>
                <a:schemeClr val="dk1"/>
              </a:solidFill>
            </a:endParaRPr>
          </a:p>
          <a:p>
            <a:pPr indent="-184150" lvl="1" marL="742950" rtl="0" algn="l">
              <a:lnSpc>
                <a:spcPct val="150000"/>
              </a:lnSpc>
              <a:spcBef>
                <a:spcPts val="900"/>
              </a:spcBef>
              <a:spcAft>
                <a:spcPts val="0"/>
              </a:spcAft>
              <a:buSzPts val="1600"/>
              <a:buNone/>
            </a:pPr>
            <a:r>
              <a:t/>
            </a:r>
            <a:endParaRPr sz="2200"/>
          </a:p>
        </p:txBody>
      </p:sp>
      <p:sp>
        <p:nvSpPr>
          <p:cNvPr id="253" name="Google Shape;253;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u="sng"/>
              <a:t>Technology Used</a:t>
            </a:r>
            <a:endParaRPr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ppt_w</p:attrName>
                                        </p:attrNameLst>
                                      </p:cBhvr>
                                      <p:tavLst>
                                        <p:tav fmla="" tm="0">
                                          <p:val>
                                            <p:strVal val="0"/>
                                          </p:val>
                                        </p:tav>
                                        <p:tav fmla="" tm="100000">
                                          <p:val>
                                            <p:strVal val="#ppt_w"/>
                                          </p:val>
                                        </p:tav>
                                      </p:tavLst>
                                    </p:anim>
                                    <p:anim calcmode="lin" valueType="num">
                                      <p:cBhvr additive="base">
                                        <p:cTn dur="500"/>
                                        <p:tgtEl>
                                          <p:spTgt spid="25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Effect filter="fade" transition="in">
                                      <p:cBhvr>
                                        <p:cTn dur="1000"/>
                                        <p:tgtEl>
                                          <p:spTgt spid="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Effect filter="fade" transition="in">
                                      <p:cBhvr>
                                        <p:cTn dur="1000"/>
                                        <p:tgtEl>
                                          <p:spTgt spid="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Effect filter="fade" transition="in">
                                      <p:cBhvr>
                                        <p:cTn dur="1000"/>
                                        <p:tgtEl>
                                          <p:spTgt spid="2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animEffect filter="fade" transition="in">
                                      <p:cBhvr>
                                        <p:cTn dur="1000"/>
                                        <p:tgtEl>
                                          <p:spTgt spid="25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animEffect filter="fade" transition="in">
                                      <p:cBhvr>
                                        <p:cTn dur="1000"/>
                                        <p:tgtEl>
                                          <p:spTgt spid="25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9" name="Google Shape;259;p6"/>
          <p:cNvSpPr txBox="1"/>
          <p:nvPr>
            <p:ph type="title"/>
          </p:nvPr>
        </p:nvSpPr>
        <p:spPr>
          <a:xfrm>
            <a:off x="320975" y="79875"/>
            <a:ext cx="11223300" cy="55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320"/>
              <a:buFont typeface="Trebuchet MS"/>
              <a:buNone/>
            </a:pPr>
            <a:r>
              <a:rPr lang="en-US" sz="3220" u="sng"/>
              <a:t>RESULTS_1- Seasonal Descriptive Statistics:</a:t>
            </a:r>
            <a:endParaRPr sz="3220" u="sng"/>
          </a:p>
        </p:txBody>
      </p:sp>
      <p:sp>
        <p:nvSpPr>
          <p:cNvPr id="260" name="Google Shape;260;p6"/>
          <p:cNvSpPr txBox="1"/>
          <p:nvPr/>
        </p:nvSpPr>
        <p:spPr>
          <a:xfrm>
            <a:off x="234600" y="800175"/>
            <a:ext cx="11722800" cy="5976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700">
                <a:solidFill>
                  <a:schemeClr val="dk1"/>
                </a:solidFill>
                <a:latin typeface="Trebuchet MS"/>
                <a:ea typeface="Trebuchet MS"/>
                <a:cs typeface="Trebuchet MS"/>
                <a:sym typeface="Trebuchet MS"/>
              </a:rPr>
              <a:t>The seasonal aggregation reveals distinct operational and environmental signatures across different farming cycles:</a:t>
            </a:r>
            <a:endParaRPr sz="1700">
              <a:solidFill>
                <a:schemeClr val="dk1"/>
              </a:solidFill>
              <a:latin typeface="Trebuchet MS"/>
              <a:ea typeface="Trebuchet MS"/>
              <a:cs typeface="Trebuchet MS"/>
              <a:sym typeface="Trebuchet MS"/>
            </a:endParaRPr>
          </a:p>
          <a:p>
            <a:pPr indent="0" lvl="0" marL="0" rtl="0" algn="l">
              <a:lnSpc>
                <a:spcPct val="115000"/>
              </a:lnSpc>
              <a:spcBef>
                <a:spcPts val="1800"/>
              </a:spcBef>
              <a:spcAft>
                <a:spcPts val="0"/>
              </a:spcAft>
              <a:buClr>
                <a:schemeClr val="dk1"/>
              </a:buClr>
              <a:buSzPts val="1100"/>
              <a:buFont typeface="Arial"/>
              <a:buNone/>
            </a:pPr>
            <a:r>
              <a:rPr lang="en-US" sz="1700">
                <a:solidFill>
                  <a:schemeClr val="dk1"/>
                </a:solidFill>
                <a:latin typeface="Trebuchet MS"/>
                <a:ea typeface="Trebuchet MS"/>
                <a:cs typeface="Trebuchet MS"/>
                <a:sym typeface="Trebuchet MS"/>
              </a:rPr>
              <a:t>1. Climate Framework &amp; Environmental Constraints</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90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Rainfall Dynamics:</a:t>
            </a:r>
            <a:r>
              <a:rPr lang="en-US" sz="1700">
                <a:solidFill>
                  <a:schemeClr val="dk1"/>
                </a:solidFill>
                <a:latin typeface="Trebuchet MS"/>
                <a:ea typeface="Trebuchet MS"/>
                <a:cs typeface="Trebuchet MS"/>
                <a:sym typeface="Trebuchet MS"/>
              </a:rPr>
              <a:t> Kharif acts as the primary water-driven cycle, but high volatility (</a:t>
            </a:r>
            <a:r>
              <a:rPr lang="en-US" sz="1700">
                <a:solidFill>
                  <a:srgbClr val="188038"/>
                </a:solidFill>
                <a:latin typeface="Trebuchet MS"/>
                <a:ea typeface="Trebuchet MS"/>
                <a:cs typeface="Trebuchet MS"/>
                <a:sym typeface="Trebuchet MS"/>
              </a:rPr>
              <a:t>std: 181.38</a:t>
            </a:r>
            <a:r>
              <a:rPr lang="en-US" sz="1700">
                <a:solidFill>
                  <a:schemeClr val="dk1"/>
                </a:solidFill>
                <a:latin typeface="Trebuchet MS"/>
                <a:ea typeface="Trebuchet MS"/>
                <a:cs typeface="Trebuchet MS"/>
                <a:sym typeface="Trebuchet MS"/>
              </a:rPr>
              <a:t>) highlights coexisting drought and flood risks. Zaid's mean is pulled up by extreme weather anomalies.</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Microclimate Stability:</a:t>
            </a:r>
            <a:r>
              <a:rPr lang="en-US" sz="1700">
                <a:solidFill>
                  <a:schemeClr val="dk1"/>
                </a:solidFill>
                <a:latin typeface="Trebuchet MS"/>
                <a:ea typeface="Trebuchet MS"/>
                <a:cs typeface="Trebuchet MS"/>
                <a:sym typeface="Trebuchet MS"/>
              </a:rPr>
              <a:t> Low variance (</a:t>
            </a:r>
            <a:r>
              <a:rPr lang="en-US" sz="1700">
                <a:solidFill>
                  <a:srgbClr val="188038"/>
                </a:solidFill>
                <a:latin typeface="Trebuchet MS"/>
                <a:ea typeface="Trebuchet MS"/>
                <a:cs typeface="Trebuchet MS"/>
                <a:sym typeface="Trebuchet MS"/>
              </a:rPr>
              <a:t>std</a:t>
            </a:r>
            <a:r>
              <a:rPr lang="en-US" sz="1700">
                <a:solidFill>
                  <a:schemeClr val="dk1"/>
                </a:solidFill>
                <a:latin typeface="Trebuchet MS"/>
                <a:ea typeface="Trebuchet MS"/>
                <a:cs typeface="Trebuchet MS"/>
                <a:sym typeface="Trebuchet MS"/>
              </a:rPr>
              <a:t>) in temperature and sunlight proves that thermal heat units act as highly predictable constraints for crop selection.</a:t>
            </a:r>
            <a:endParaRPr sz="1700">
              <a:solidFill>
                <a:schemeClr val="dk1"/>
              </a:solidFill>
              <a:latin typeface="Trebuchet MS"/>
              <a:ea typeface="Trebuchet MS"/>
              <a:cs typeface="Trebuchet MS"/>
              <a:sym typeface="Trebuchet MS"/>
            </a:endParaRPr>
          </a:p>
          <a:p>
            <a:pPr indent="0" lvl="0" marL="0" rtl="0" algn="l">
              <a:lnSpc>
                <a:spcPct val="115000"/>
              </a:lnSpc>
              <a:spcBef>
                <a:spcPts val="2100"/>
              </a:spcBef>
              <a:spcAft>
                <a:spcPts val="0"/>
              </a:spcAft>
              <a:buClr>
                <a:schemeClr val="dk1"/>
              </a:buClr>
              <a:buSzPts val="1100"/>
              <a:buFont typeface="Arial"/>
              <a:buNone/>
            </a:pPr>
            <a:r>
              <a:rPr lang="en-US" sz="1700">
                <a:solidFill>
                  <a:schemeClr val="dk1"/>
                </a:solidFill>
                <a:latin typeface="Trebuchet MS"/>
                <a:ea typeface="Trebuchet MS"/>
                <a:cs typeface="Trebuchet MS"/>
                <a:sym typeface="Trebuchet MS"/>
              </a:rPr>
              <a:t>2. Resource Allocation &amp; Operational Intensity</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90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Pesticide &amp; Risk Management:</a:t>
            </a:r>
            <a:r>
              <a:rPr lang="en-US" sz="1700">
                <a:solidFill>
                  <a:schemeClr val="dk1"/>
                </a:solidFill>
                <a:latin typeface="Trebuchet MS"/>
                <a:ea typeface="Trebuchet MS"/>
                <a:cs typeface="Trebuchet MS"/>
                <a:sym typeface="Trebuchet MS"/>
              </a:rPr>
              <a:t> Peak humidity in Kharif (</a:t>
            </a:r>
            <a:r>
              <a:rPr lang="en-US" sz="1700">
                <a:solidFill>
                  <a:srgbClr val="188038"/>
                </a:solidFill>
                <a:latin typeface="Trebuchet MS"/>
                <a:ea typeface="Trebuchet MS"/>
                <a:cs typeface="Trebuchet MS"/>
                <a:sym typeface="Trebuchet MS"/>
              </a:rPr>
              <a:t>Mean: 71.84%</a:t>
            </a:r>
            <a:r>
              <a:rPr lang="en-US" sz="1700">
                <a:solidFill>
                  <a:schemeClr val="dk1"/>
                </a:solidFill>
                <a:latin typeface="Trebuchet MS"/>
                <a:ea typeface="Trebuchet MS"/>
                <a:cs typeface="Trebuchet MS"/>
                <a:sym typeface="Trebuchet MS"/>
              </a:rPr>
              <a:t>) directly correlates with spikes in pesticide use and disease risk, proving humidity structurally escalates pest threats.</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Fertilizer Expenditure:</a:t>
            </a:r>
            <a:r>
              <a:rPr lang="en-US" sz="1700">
                <a:solidFill>
                  <a:schemeClr val="dk1"/>
                </a:solidFill>
                <a:latin typeface="Trebuchet MS"/>
                <a:ea typeface="Trebuchet MS"/>
                <a:cs typeface="Trebuchet MS"/>
                <a:sym typeface="Trebuchet MS"/>
              </a:rPr>
              <a:t> Uniform NPK parameters reveal that fertilizer application follows rigid, standardized regional guidelines rather than dynamic, soil-moisture-dependent adjustments.</a:t>
            </a:r>
            <a:endParaRPr sz="1700">
              <a:solidFill>
                <a:schemeClr val="dk1"/>
              </a:solidFill>
              <a:latin typeface="Trebuchet MS"/>
              <a:ea typeface="Trebuchet MS"/>
              <a:cs typeface="Trebuchet MS"/>
              <a:sym typeface="Trebuchet MS"/>
            </a:endParaRPr>
          </a:p>
          <a:p>
            <a:pPr indent="0" lvl="0" marL="0" rtl="0" algn="l">
              <a:lnSpc>
                <a:spcPct val="115000"/>
              </a:lnSpc>
              <a:spcBef>
                <a:spcPts val="2100"/>
              </a:spcBef>
              <a:spcAft>
                <a:spcPts val="0"/>
              </a:spcAft>
              <a:buClr>
                <a:schemeClr val="dk1"/>
              </a:buClr>
              <a:buSzPts val="1100"/>
              <a:buFont typeface="Arial"/>
              <a:buNone/>
            </a:pPr>
            <a:r>
              <a:rPr lang="en-US" sz="1700">
                <a:solidFill>
                  <a:schemeClr val="dk1"/>
                </a:solidFill>
                <a:latin typeface="Trebuchet MS"/>
                <a:ea typeface="Trebuchet MS"/>
                <a:cs typeface="Trebuchet MS"/>
                <a:sym typeface="Trebuchet MS"/>
              </a:rPr>
              <a:t>3. Agricultural KPIs &amp; Financial Viability</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90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Yield Efficiencies:</a:t>
            </a:r>
            <a:r>
              <a:rPr lang="en-US" sz="1700">
                <a:solidFill>
                  <a:schemeClr val="dk1"/>
                </a:solidFill>
                <a:latin typeface="Trebuchet MS"/>
                <a:ea typeface="Trebuchet MS"/>
                <a:cs typeface="Trebuchet MS"/>
                <a:sym typeface="Trebuchet MS"/>
              </a:rPr>
              <a:t> Kharif stands out as the most productive cycle, delivering the highest physical output with a mean yield of </a:t>
            </a:r>
            <a:r>
              <a:rPr b="1" lang="en-US" sz="1700">
                <a:solidFill>
                  <a:schemeClr val="dk1"/>
                </a:solidFill>
                <a:latin typeface="Trebuchet MS"/>
                <a:ea typeface="Trebuchet MS"/>
                <a:cs typeface="Trebuchet MS"/>
                <a:sym typeface="Trebuchet MS"/>
              </a:rPr>
              <a:t>5.64 tonnes/ha</a:t>
            </a:r>
            <a:r>
              <a:rPr lang="en-US" sz="1700">
                <a:solidFill>
                  <a:schemeClr val="dk1"/>
                </a:solidFill>
                <a:latin typeface="Trebuchet MS"/>
                <a:ea typeface="Trebuchet MS"/>
                <a:cs typeface="Trebuchet MS"/>
                <a:sym typeface="Trebuchet MS"/>
              </a:rPr>
              <a:t>.</a:t>
            </a:r>
            <a:endParaRPr sz="1700">
              <a:solidFill>
                <a:schemeClr val="dk1"/>
              </a:solidFill>
              <a:latin typeface="Trebuchet MS"/>
              <a:ea typeface="Trebuchet MS"/>
              <a:cs typeface="Trebuchet MS"/>
              <a:sym typeface="Trebuchet MS"/>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latin typeface="Trebuchet MS"/>
                <a:ea typeface="Trebuchet MS"/>
                <a:cs typeface="Trebuchet MS"/>
                <a:sym typeface="Trebuchet MS"/>
              </a:rPr>
              <a:t>Profit Volatility:</a:t>
            </a:r>
            <a:r>
              <a:rPr lang="en-US" sz="1700">
                <a:solidFill>
                  <a:schemeClr val="dk1"/>
                </a:solidFill>
                <a:latin typeface="Trebuchet MS"/>
                <a:ea typeface="Trebuchet MS"/>
                <a:cs typeface="Trebuchet MS"/>
                <a:sym typeface="Trebuchet MS"/>
              </a:rPr>
              <a:t> Kharif is a high-risk, high-reward season. It boasts the highest average profit but features severe financial variance (</a:t>
            </a:r>
            <a:r>
              <a:rPr lang="en-US" sz="1700">
                <a:solidFill>
                  <a:srgbClr val="188038"/>
                </a:solidFill>
                <a:latin typeface="Trebuchet MS"/>
                <a:ea typeface="Trebuchet MS"/>
                <a:cs typeface="Trebuchet MS"/>
                <a:sym typeface="Trebuchet MS"/>
              </a:rPr>
              <a:t>std: 612,626.22 INR</a:t>
            </a:r>
            <a:r>
              <a:rPr lang="en-US" sz="1700">
                <a:solidFill>
                  <a:schemeClr val="dk1"/>
                </a:solidFill>
                <a:latin typeface="Trebuchet MS"/>
                <a:ea typeface="Trebuchet MS"/>
                <a:cs typeface="Trebuchet MS"/>
                <a:sym typeface="Trebuchet MS"/>
              </a:rPr>
              <a:t>) due to market price and cost shocks.</a:t>
            </a:r>
            <a:endParaRPr sz="1700">
              <a:solidFill>
                <a:schemeClr val="dk1"/>
              </a:solidFill>
              <a:latin typeface="Trebuchet MS"/>
              <a:ea typeface="Trebuchet MS"/>
              <a:cs typeface="Trebuchet MS"/>
              <a:sym typeface="Trebuchet MS"/>
            </a:endParaRPr>
          </a:p>
          <a:p>
            <a:pPr indent="0" lvl="0" marL="0" marR="0" rtl="0" algn="l">
              <a:spcBef>
                <a:spcPts val="2100"/>
              </a:spcBef>
              <a:spcAft>
                <a:spcPts val="0"/>
              </a:spcAft>
              <a:buClr>
                <a:schemeClr val="accent1"/>
              </a:buClr>
              <a:buSzPts val="1600"/>
              <a:buFont typeface="Noto Sans Symbols"/>
              <a:buNone/>
            </a:pPr>
            <a:r>
              <a:t/>
            </a:r>
            <a:endParaRPr sz="1700">
              <a:solidFill>
                <a:schemeClr val="dk1"/>
              </a:solidFill>
              <a:latin typeface="Trebuchet MS"/>
              <a:ea typeface="Trebuchet MS"/>
              <a:cs typeface="Trebuchet MS"/>
              <a:sym typeface="Trebuchet MS"/>
            </a:endParaRPr>
          </a:p>
        </p:txBody>
      </p:sp>
      <p:sp>
        <p:nvSpPr>
          <p:cNvPr id="261" name="Google Shape;261;p6"/>
          <p:cNvSpPr txBox="1"/>
          <p:nvPr/>
        </p:nvSpPr>
        <p:spPr>
          <a:xfrm flipH="1" rot="10800000">
            <a:off x="3887525" y="5093400"/>
            <a:ext cx="7373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ppt_w</p:attrName>
                                        </p:attrNameLst>
                                      </p:cBhvr>
                                      <p:tavLst>
                                        <p:tav fmla="" tm="0">
                                          <p:val>
                                            <p:strVal val="0"/>
                                          </p:val>
                                        </p:tav>
                                        <p:tav fmla="" tm="100000">
                                          <p:val>
                                            <p:strVal val="#ppt_w"/>
                                          </p:val>
                                        </p:tav>
                                      </p:tavLst>
                                    </p:anim>
                                    <p:anim calcmode="lin" valueType="num">
                                      <p:cBhvr additive="base">
                                        <p:cTn dur="500"/>
                                        <p:tgtEl>
                                          <p:spTgt spid="2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txBox="1"/>
          <p:nvPr>
            <p:ph type="title"/>
          </p:nvPr>
        </p:nvSpPr>
        <p:spPr>
          <a:xfrm>
            <a:off x="320975" y="116825"/>
            <a:ext cx="11646000" cy="666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4800"/>
              <a:buFont typeface="Trebuchet MS"/>
              <a:buNone/>
            </a:pPr>
            <a:r>
              <a:rPr lang="en-US" sz="3200" u="sng"/>
              <a:t>RESULTS_2- </a:t>
            </a:r>
            <a:r>
              <a:rPr b="0" lang="en-US" sz="3200" u="sng"/>
              <a:t>Comparing crop performance within each season </a:t>
            </a:r>
            <a:endParaRPr b="0" sz="3200" u="sng"/>
          </a:p>
          <a:p>
            <a:pPr indent="0" lvl="0" marL="0" rtl="0" algn="l">
              <a:spcBef>
                <a:spcPts val="0"/>
              </a:spcBef>
              <a:spcAft>
                <a:spcPts val="0"/>
              </a:spcAft>
              <a:buClr>
                <a:schemeClr val="dk1"/>
              </a:buClr>
              <a:buSzPts val="4800"/>
              <a:buFont typeface="Trebuchet MS"/>
              <a:buNone/>
            </a:pPr>
            <a:r>
              <a:t/>
            </a:r>
            <a:endParaRPr/>
          </a:p>
        </p:txBody>
      </p:sp>
      <p:sp>
        <p:nvSpPr>
          <p:cNvPr id="267" name="Google Shape;267;p7"/>
          <p:cNvSpPr txBox="1"/>
          <p:nvPr/>
        </p:nvSpPr>
        <p:spPr>
          <a:xfrm>
            <a:off x="874750" y="943475"/>
            <a:ext cx="3471000" cy="33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3F3F3F"/>
              </a:buClr>
              <a:buSzPts val="1800"/>
              <a:buFont typeface="Trebuchet MS"/>
              <a:buChar char="●"/>
            </a:pPr>
            <a:r>
              <a:rPr b="1" lang="en-US" sz="1800" u="sng">
                <a:solidFill>
                  <a:srgbClr val="3F3F3F"/>
                </a:solidFill>
                <a:latin typeface="Trebuchet MS"/>
                <a:ea typeface="Trebuchet MS"/>
                <a:cs typeface="Trebuchet MS"/>
                <a:sym typeface="Trebuchet MS"/>
              </a:rPr>
              <a:t>Code Screenshot:</a:t>
            </a:r>
            <a:endParaRPr b="1" sz="1800" u="sng">
              <a:solidFill>
                <a:srgbClr val="3F3F3F"/>
              </a:solidFill>
              <a:latin typeface="Trebuchet MS"/>
              <a:ea typeface="Trebuchet MS"/>
              <a:cs typeface="Trebuchet MS"/>
              <a:sym typeface="Trebuchet MS"/>
            </a:endParaRPr>
          </a:p>
        </p:txBody>
      </p:sp>
      <p:pic>
        <p:nvPicPr>
          <p:cNvPr id="268" name="Google Shape;268;p7"/>
          <p:cNvPicPr preferRelativeResize="0"/>
          <p:nvPr/>
        </p:nvPicPr>
        <p:blipFill>
          <a:blip r:embed="rId3">
            <a:alphaModFix/>
          </a:blip>
          <a:stretch>
            <a:fillRect/>
          </a:stretch>
        </p:blipFill>
        <p:spPr>
          <a:xfrm>
            <a:off x="320975" y="2119852"/>
            <a:ext cx="6383350" cy="3015050"/>
          </a:xfrm>
          <a:prstGeom prst="rect">
            <a:avLst/>
          </a:prstGeom>
          <a:noFill/>
          <a:ln cap="flat" cmpd="sng" w="9525">
            <a:solidFill>
              <a:srgbClr val="000000"/>
            </a:solidFill>
            <a:prstDash val="solid"/>
            <a:round/>
            <a:headEnd len="sm" w="sm" type="none"/>
            <a:tailEnd len="sm" w="sm" type="none"/>
          </a:ln>
        </p:spPr>
      </p:pic>
      <p:pic>
        <p:nvPicPr>
          <p:cNvPr id="269" name="Google Shape;269;p7"/>
          <p:cNvPicPr preferRelativeResize="0"/>
          <p:nvPr/>
        </p:nvPicPr>
        <p:blipFill>
          <a:blip r:embed="rId4">
            <a:alphaModFix/>
          </a:blip>
          <a:stretch>
            <a:fillRect/>
          </a:stretch>
        </p:blipFill>
        <p:spPr>
          <a:xfrm>
            <a:off x="7185849" y="943475"/>
            <a:ext cx="4664474" cy="5740500"/>
          </a:xfrm>
          <a:prstGeom prst="rect">
            <a:avLst/>
          </a:prstGeom>
          <a:noFill/>
          <a:ln cap="flat" cmpd="sng" w="9525">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500"/>
                                        <p:tgtEl>
                                          <p:spTgt spid="266"/>
                                        </p:tgtEl>
                                        <p:attrNameLst>
                                          <p:attrName>ppt_w</p:attrName>
                                        </p:attrNameLst>
                                      </p:cBhvr>
                                      <p:tavLst>
                                        <p:tav fmla="" tm="0">
                                          <p:val>
                                            <p:strVal val="0"/>
                                          </p:val>
                                        </p:tav>
                                        <p:tav fmla="" tm="100000">
                                          <p:val>
                                            <p:strVal val="#ppt_w"/>
                                          </p:val>
                                        </p:tav>
                                      </p:tavLst>
                                    </p:anim>
                                    <p:anim calcmode="lin" valueType="num">
                                      <p:cBhvr additive="base">
                                        <p:cTn dur="500"/>
                                        <p:tgtEl>
                                          <p:spTgt spid="26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fa5a01509b_2_241"/>
          <p:cNvSpPr txBox="1"/>
          <p:nvPr>
            <p:ph idx="1" type="body"/>
          </p:nvPr>
        </p:nvSpPr>
        <p:spPr>
          <a:xfrm>
            <a:off x="448975" y="864900"/>
            <a:ext cx="11508300" cy="58242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lang="en-US" sz="1600">
                <a:solidFill>
                  <a:srgbClr val="000000"/>
                </a:solidFill>
              </a:rPr>
              <a:t>1. Multi-Tier Biomass Dichotomy (All Seasons)</a:t>
            </a:r>
            <a:endParaRPr sz="1600">
              <a:solidFill>
                <a:srgbClr val="000000"/>
              </a:solidFill>
            </a:endParaRPr>
          </a:p>
          <a:p>
            <a:pPr indent="-330200" lvl="0" marL="457200" rtl="0" algn="l">
              <a:lnSpc>
                <a:spcPct val="115000"/>
              </a:lnSpc>
              <a:spcBef>
                <a:spcPts val="900"/>
              </a:spcBef>
              <a:spcAft>
                <a:spcPts val="0"/>
              </a:spcAft>
              <a:buClr>
                <a:srgbClr val="000000"/>
              </a:buClr>
              <a:buSzPts val="1600"/>
              <a:buFont typeface="Arial"/>
              <a:buChar char="●"/>
            </a:pPr>
            <a:r>
              <a:rPr b="1" lang="en-US" sz="1600">
                <a:solidFill>
                  <a:srgbClr val="000000"/>
                </a:solidFill>
              </a:rPr>
              <a:t>Sugarcane Dominance:</a:t>
            </a:r>
            <a:r>
              <a:rPr lang="en-US" sz="1600">
                <a:solidFill>
                  <a:srgbClr val="000000"/>
                </a:solidFill>
              </a:rPr>
              <a:t> Operates on an elite tier, yielding </a:t>
            </a:r>
            <a:r>
              <a:rPr b="1" lang="en-US" sz="1600">
                <a:solidFill>
                  <a:srgbClr val="000000"/>
                </a:solidFill>
              </a:rPr>
              <a:t>38.42 to 53.46 tonnes/ha</a:t>
            </a:r>
            <a:r>
              <a:rPr lang="en-US" sz="1600">
                <a:solidFill>
                  <a:srgbClr val="000000"/>
                </a:solidFill>
              </a:rPr>
              <a:t> with exceptional water conversion rates (23.39 to 36.00 t/1000m³).</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rPr>
              <a:t>Low-Yield Ceiling:</a:t>
            </a:r>
            <a:r>
              <a:rPr lang="en-US" sz="1600">
                <a:solidFill>
                  <a:srgbClr val="000000"/>
                </a:solidFill>
              </a:rPr>
              <a:t> Every other crop (grains, legumes, and cash crops) remains locked under a strict </a:t>
            </a:r>
            <a:r>
              <a:rPr b="1" lang="en-US" sz="1600">
                <a:solidFill>
                  <a:srgbClr val="000000"/>
                </a:solidFill>
              </a:rPr>
              <a:t>3.0 tonnes/ha baseline ceiling</a:t>
            </a:r>
            <a:r>
              <a:rPr lang="en-US" sz="1600">
                <a:solidFill>
                  <a:srgbClr val="000000"/>
                </a:solidFill>
              </a:rPr>
              <a:t> across all seasons.</a:t>
            </a:r>
            <a:endParaRPr sz="1600">
              <a:solidFill>
                <a:srgbClr val="000000"/>
              </a:solidFill>
            </a:endParaRPr>
          </a:p>
          <a:p>
            <a:pPr indent="0" lvl="0" marL="0" rtl="0" algn="l">
              <a:lnSpc>
                <a:spcPct val="115000"/>
              </a:lnSpc>
              <a:spcBef>
                <a:spcPts val="2100"/>
              </a:spcBef>
              <a:spcAft>
                <a:spcPts val="0"/>
              </a:spcAft>
              <a:buClr>
                <a:schemeClr val="dk1"/>
              </a:buClr>
              <a:buSzPts val="1100"/>
              <a:buFont typeface="Arial"/>
              <a:buNone/>
            </a:pPr>
            <a:r>
              <a:rPr lang="en-US" sz="1600">
                <a:solidFill>
                  <a:srgbClr val="000000"/>
                </a:solidFill>
              </a:rPr>
              <a:t>2. Financial Paradox: High Yield vs. High Value</a:t>
            </a:r>
            <a:endParaRPr sz="1600">
              <a:solidFill>
                <a:srgbClr val="000000"/>
              </a:solidFill>
            </a:endParaRPr>
          </a:p>
          <a:p>
            <a:pPr indent="-330200" lvl="0" marL="457200" rtl="0" algn="l">
              <a:lnSpc>
                <a:spcPct val="115000"/>
              </a:lnSpc>
              <a:spcBef>
                <a:spcPts val="900"/>
              </a:spcBef>
              <a:spcAft>
                <a:spcPts val="0"/>
              </a:spcAft>
              <a:buClr>
                <a:srgbClr val="000000"/>
              </a:buClr>
              <a:buSzPts val="1600"/>
              <a:buFont typeface="Arial"/>
              <a:buChar char="●"/>
            </a:pPr>
            <a:r>
              <a:rPr b="1" lang="en-US" sz="1600">
                <a:solidFill>
                  <a:srgbClr val="000000"/>
                </a:solidFill>
              </a:rPr>
              <a:t>Grain Deficit Trap:</a:t>
            </a:r>
            <a:r>
              <a:rPr lang="en-US" sz="1600">
                <a:solidFill>
                  <a:srgbClr val="000000"/>
                </a:solidFill>
              </a:rPr>
              <a:t> Grains (Maize, Rice, Wheat) generate systemic net-negative returns despite good yields, proving high input costs outpace market value.</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rPr>
              <a:t>Chilli Exception:</a:t>
            </a:r>
            <a:r>
              <a:rPr lang="en-US" sz="1600">
                <a:solidFill>
                  <a:srgbClr val="000000"/>
                </a:solidFill>
              </a:rPr>
              <a:t> Yields low physical volume (1.18 to 1.73 tonnes/ha) but acts as a hyper-lucrative asset, peaking at a phenomenal </a:t>
            </a:r>
            <a:r>
              <a:rPr b="1" lang="en-US" sz="1600">
                <a:solidFill>
                  <a:srgbClr val="000000"/>
                </a:solidFill>
              </a:rPr>
              <a:t>959,406.84 INR</a:t>
            </a:r>
            <a:r>
              <a:rPr lang="en-US" sz="1600">
                <a:solidFill>
                  <a:srgbClr val="000000"/>
                </a:solidFill>
              </a:rPr>
              <a:t> profit in Kharif.</a:t>
            </a:r>
            <a:endParaRPr sz="1600">
              <a:solidFill>
                <a:srgbClr val="000000"/>
              </a:solidFill>
            </a:endParaRPr>
          </a:p>
          <a:p>
            <a:pPr indent="0" lvl="0" marL="0" rtl="0" algn="l">
              <a:lnSpc>
                <a:spcPct val="115000"/>
              </a:lnSpc>
              <a:spcBef>
                <a:spcPts val="2100"/>
              </a:spcBef>
              <a:spcAft>
                <a:spcPts val="0"/>
              </a:spcAft>
              <a:buClr>
                <a:schemeClr val="dk1"/>
              </a:buClr>
              <a:buSzPts val="1100"/>
              <a:buFont typeface="Arial"/>
              <a:buNone/>
            </a:pPr>
            <a:r>
              <a:rPr lang="en-US" sz="1600">
                <a:solidFill>
                  <a:srgbClr val="000000"/>
                </a:solidFill>
              </a:rPr>
              <a:t>3. Seasonal Decay Mapping &amp; Zaid Collapse</a:t>
            </a:r>
            <a:endParaRPr sz="1600">
              <a:solidFill>
                <a:srgbClr val="000000"/>
              </a:solidFill>
            </a:endParaRPr>
          </a:p>
          <a:p>
            <a:pPr indent="-330200" lvl="0" marL="457200" rtl="0" algn="l">
              <a:lnSpc>
                <a:spcPct val="115000"/>
              </a:lnSpc>
              <a:spcBef>
                <a:spcPts val="900"/>
              </a:spcBef>
              <a:spcAft>
                <a:spcPts val="0"/>
              </a:spcAft>
              <a:buClr>
                <a:srgbClr val="000000"/>
              </a:buClr>
              <a:buSzPts val="1600"/>
              <a:buFont typeface="Arial"/>
              <a:buChar char="●"/>
            </a:pPr>
            <a:r>
              <a:rPr b="1" lang="en-US" sz="1600">
                <a:solidFill>
                  <a:srgbClr val="000000"/>
                </a:solidFill>
              </a:rPr>
              <a:t>Kharif Premium:</a:t>
            </a:r>
            <a:r>
              <a:rPr lang="en-US" sz="1600">
                <a:solidFill>
                  <a:srgbClr val="000000"/>
                </a:solidFill>
              </a:rPr>
              <a:t> Maximizes performance across all crops, pushing Sugarcane profit to its absolute peak of </a:t>
            </a:r>
            <a:r>
              <a:rPr b="1" lang="en-US" sz="1600">
                <a:solidFill>
                  <a:srgbClr val="000000"/>
                </a:solidFill>
              </a:rPr>
              <a:t>1,000,790.81 INR</a:t>
            </a:r>
            <a:r>
              <a:rPr lang="en-US" sz="1600">
                <a:solidFill>
                  <a:srgbClr val="000000"/>
                </a:solidFill>
              </a:rPr>
              <a:t>.</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rPr>
              <a:t>Rabi Squeeze:</a:t>
            </a:r>
            <a:r>
              <a:rPr lang="en-US" sz="1600">
                <a:solidFill>
                  <a:srgbClr val="000000"/>
                </a:solidFill>
              </a:rPr>
              <a:t> Triggers a visible step-down in yield and margin, forcing Pulses into a net-negative status (-14,432.54 INR).</a:t>
            </a:r>
            <a:endParaRPr sz="1600">
              <a:solidFill>
                <a:srgbClr val="000000"/>
              </a:solidFil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rPr>
              <a:t>Universal Zaid Collapse:</a:t>
            </a:r>
            <a:r>
              <a:rPr lang="en-US" sz="1600">
                <a:solidFill>
                  <a:srgbClr val="000000"/>
                </a:solidFill>
              </a:rPr>
              <a:t> Summer stress destroys viability. Outside of Sugarcane and Chilli, </a:t>
            </a:r>
            <a:r>
              <a:rPr b="1" lang="en-US" sz="1600">
                <a:solidFill>
                  <a:srgbClr val="000000"/>
                </a:solidFill>
              </a:rPr>
              <a:t>every single crop runs at a heavy net loss</a:t>
            </a:r>
            <a:r>
              <a:rPr lang="en-US" sz="1600">
                <a:solidFill>
                  <a:srgbClr val="000000"/>
                </a:solidFill>
              </a:rPr>
              <a:t>, with grains dropping below -191,000 INR.</a:t>
            </a:r>
            <a:endParaRPr sz="1600">
              <a:solidFill>
                <a:srgbClr val="000000"/>
              </a:solidFill>
            </a:endParaRPr>
          </a:p>
          <a:p>
            <a:pPr indent="0" lvl="0" marL="0" rtl="0" algn="l">
              <a:spcBef>
                <a:spcPts val="2100"/>
              </a:spcBef>
              <a:spcAft>
                <a:spcPts val="0"/>
              </a:spcAft>
              <a:buNone/>
            </a:pPr>
            <a:r>
              <a:t/>
            </a:r>
            <a:endParaRPr sz="1600">
              <a:solidFill>
                <a:srgbClr val="000000"/>
              </a:solidFill>
            </a:endParaRPr>
          </a:p>
        </p:txBody>
      </p:sp>
      <p:sp>
        <p:nvSpPr>
          <p:cNvPr id="276" name="Google Shape;276;g3fa5a01509b_2_241"/>
          <p:cNvSpPr txBox="1"/>
          <p:nvPr>
            <p:ph type="title"/>
          </p:nvPr>
        </p:nvSpPr>
        <p:spPr>
          <a:xfrm>
            <a:off x="448975" y="131325"/>
            <a:ext cx="10679700" cy="8310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50000"/>
              <a:buFont typeface="Trebuchet MS"/>
              <a:buNone/>
            </a:pPr>
            <a:r>
              <a:rPr lang="en-US" sz="3200" u="sng"/>
              <a:t>RESULTS_2- </a:t>
            </a:r>
            <a:r>
              <a:rPr b="0" lang="en-US" sz="3200" u="sng"/>
              <a:t>Comparing crop performance within each season </a:t>
            </a:r>
            <a:endParaRPr b="0" sz="3200" u="sng"/>
          </a:p>
          <a:p>
            <a:pPr indent="0" lvl="0" marL="0" rtl="0" algn="l">
              <a:spcBef>
                <a:spcPts val="0"/>
              </a:spcBef>
              <a:spcAft>
                <a:spcPts val="0"/>
              </a:spcAft>
              <a:buClr>
                <a:schemeClr val="dk1"/>
              </a:buClr>
              <a:buSzPct val="100000"/>
              <a:buFont typeface="Trebuchet MS"/>
              <a:buNone/>
            </a:pPr>
            <a:r>
              <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8"/>
          <p:cNvSpPr txBox="1"/>
          <p:nvPr>
            <p:ph type="title"/>
          </p:nvPr>
        </p:nvSpPr>
        <p:spPr>
          <a:xfrm>
            <a:off x="320975" y="132750"/>
            <a:ext cx="11060700" cy="66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3600" u="sng"/>
              <a:t>RESULTS_3 -</a:t>
            </a:r>
            <a:endParaRPr sz="3600" u="sng"/>
          </a:p>
        </p:txBody>
      </p:sp>
      <p:sp>
        <p:nvSpPr>
          <p:cNvPr id="282" name="Google Shape;282;p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3" name="Google Shape;283;p8"/>
          <p:cNvSpPr txBox="1"/>
          <p:nvPr>
            <p:ph idx="1" type="body"/>
          </p:nvPr>
        </p:nvSpPr>
        <p:spPr>
          <a:xfrm>
            <a:off x="337725" y="1299900"/>
            <a:ext cx="11359500" cy="4258200"/>
          </a:xfrm>
          <a:prstGeom prst="rect">
            <a:avLst/>
          </a:prstGeom>
          <a:noFill/>
          <a:ln>
            <a:noFill/>
          </a:ln>
        </p:spPr>
        <p:txBody>
          <a:bodyPr anchorCtr="0" anchor="t" bIns="45700" lIns="91425" spcFirstLastPara="1" rIns="91425" wrap="square" tIns="45700">
            <a:noAutofit/>
          </a:bodyPr>
          <a:lstStyle/>
          <a:p>
            <a:pPr indent="0" lvl="0" marL="76200" rtl="0" algn="l">
              <a:spcBef>
                <a:spcPts val="1100"/>
              </a:spcBef>
              <a:spcAft>
                <a:spcPts val="0"/>
              </a:spcAft>
              <a:buClr>
                <a:schemeClr val="dk1"/>
              </a:buClr>
              <a:buSzPts val="1100"/>
              <a:buFont typeface="Arial"/>
              <a:buNone/>
            </a:pPr>
            <a:r>
              <a:rPr b="1" lang="en-US">
                <a:solidFill>
                  <a:schemeClr val="dk1"/>
                </a:solidFill>
              </a:rPr>
              <a:t>Question</a:t>
            </a:r>
            <a:r>
              <a:rPr lang="en-US">
                <a:solidFill>
                  <a:schemeClr val="dk1"/>
                </a:solidFill>
              </a:rPr>
              <a:t>:How do different districts across the states vary in their primary environmental risk profiles (Rainfall vs. Disease &amp; Pest Risk), and which regions face the highest dual threat of climate volatility and crop disease?</a:t>
            </a:r>
            <a:endParaRPr>
              <a:solidFill>
                <a:schemeClr val="dk1"/>
              </a:solidFill>
            </a:endParaRPr>
          </a:p>
          <a:p>
            <a:pPr indent="0" lvl="0" marL="76200" rtl="0" algn="l">
              <a:spcBef>
                <a:spcPts val="1800"/>
              </a:spcBef>
              <a:spcAft>
                <a:spcPts val="0"/>
              </a:spcAft>
              <a:buClr>
                <a:schemeClr val="dk1"/>
              </a:buClr>
              <a:buSzPts val="1100"/>
              <a:buFont typeface="Arial"/>
              <a:buNone/>
            </a:pPr>
            <a:r>
              <a:rPr b="1" lang="en-US">
                <a:solidFill>
                  <a:schemeClr val="dk1"/>
                </a:solidFill>
              </a:rPr>
              <a:t>Analysis</a:t>
            </a:r>
            <a:r>
              <a:rPr lang="en-US">
                <a:solidFill>
                  <a:schemeClr val="dk1"/>
                </a:solidFill>
              </a:rPr>
              <a:t>:This analysis evaluates regional environmental conditions by cross-examining geographical locations (State) against Rainfall_mm and Disease_Pest_Risk_pct.</a:t>
            </a:r>
            <a:endParaRPr>
              <a:solidFill>
                <a:schemeClr val="dk1"/>
              </a:solidFill>
            </a:endParaRPr>
          </a:p>
          <a:p>
            <a:pPr indent="-355600" lvl="0" marL="457200" rtl="0" algn="l">
              <a:lnSpc>
                <a:spcPct val="115000"/>
              </a:lnSpc>
              <a:spcBef>
                <a:spcPts val="1200"/>
              </a:spcBef>
              <a:spcAft>
                <a:spcPts val="0"/>
              </a:spcAft>
              <a:buClr>
                <a:schemeClr val="dk1"/>
              </a:buClr>
              <a:buSzPts val="2000"/>
              <a:buFont typeface="Trebuchet MS"/>
              <a:buChar char="●"/>
            </a:pPr>
            <a:r>
              <a:rPr lang="en-US">
                <a:solidFill>
                  <a:schemeClr val="dk1"/>
                </a:solidFill>
              </a:rPr>
              <a:t>Objective: Agriculture is highly localized. Since we previously discovered that high humidity and rainfall structurally escalate pest management requirements, we need to map out exactly which geographic regions are natural "high-risk zones." Identifying these regions allows us to understand where environmental stressors are most likely to trigger crop failures and financial losses, moving us past basic seasonal averages into spatial risk tracking.</a:t>
            </a:r>
            <a:endParaRPr>
              <a:solidFill>
                <a:schemeClr val="dk1"/>
              </a:solidFill>
            </a:endParaRPr>
          </a:p>
          <a:p>
            <a:pPr indent="0" lvl="0" marL="0" rtl="0" algn="l">
              <a:spcBef>
                <a:spcPts val="500"/>
              </a:spcBef>
              <a:spcAft>
                <a:spcPts val="0"/>
              </a:spcAft>
              <a:buSzPts val="16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1"/>
                                        </p:tgtEl>
                                        <p:attrNameLst>
                                          <p:attrName>style.visibility</p:attrName>
                                        </p:attrNameLst>
                                      </p:cBhvr>
                                      <p:to>
                                        <p:strVal val="visible"/>
                                      </p:to>
                                    </p:set>
                                    <p:anim calcmode="lin" valueType="num">
                                      <p:cBhvr additive="base">
                                        <p:cTn dur="500"/>
                                        <p:tgtEl>
                                          <p:spTgt spid="281"/>
                                        </p:tgtEl>
                                        <p:attrNameLst>
                                          <p:attrName>ppt_w</p:attrName>
                                        </p:attrNameLst>
                                      </p:cBhvr>
                                      <p:tavLst>
                                        <p:tav fmla="" tm="0">
                                          <p:val>
                                            <p:strVal val="0"/>
                                          </p:val>
                                        </p:tav>
                                        <p:tav fmla="" tm="100000">
                                          <p:val>
                                            <p:strVal val="#ppt_w"/>
                                          </p:val>
                                        </p:tav>
                                      </p:tavLst>
                                    </p:anim>
                                    <p:anim calcmode="lin" valueType="num">
                                      <p:cBhvr additive="base">
                                        <p:cTn dur="500"/>
                                        <p:tgtEl>
                                          <p:spTgt spid="2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10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1000"/>
                                        <p:tgtEl>
                                          <p:spTgt spid="2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animEffect filter="fade" transition="in">
                                      <p:cBhvr>
                                        <p:cTn dur="1000"/>
                                        <p:tgtEl>
                                          <p:spTgt spid="2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3" st="3"/>
                                            </p:txEl>
                                          </p:spTgt>
                                        </p:tgtEl>
                                        <p:attrNameLst>
                                          <p:attrName>style.visibility</p:attrName>
                                        </p:attrNameLst>
                                      </p:cBhvr>
                                      <p:to>
                                        <p:strVal val="visible"/>
                                      </p:to>
                                    </p:set>
                                    <p:animEffect filter="fade" transition="in">
                                      <p:cBhvr>
                                        <p:cTn dur="1000"/>
                                        <p:tgtEl>
                                          <p:spTgt spid="283">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fa5a01509b_2_250"/>
          <p:cNvSpPr txBox="1"/>
          <p:nvPr>
            <p:ph type="title"/>
          </p:nvPr>
        </p:nvSpPr>
        <p:spPr>
          <a:xfrm>
            <a:off x="184700" y="131300"/>
            <a:ext cx="6094500" cy="6687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33333"/>
              <a:buFont typeface="Trebuchet MS"/>
              <a:buNone/>
            </a:pPr>
            <a:r>
              <a:rPr lang="en-US" sz="3600" u="sng"/>
              <a:t>RESULTS_3 - Visualization</a:t>
            </a:r>
            <a:endParaRPr sz="3600" u="sng"/>
          </a:p>
          <a:p>
            <a:pPr indent="0" lvl="0" marL="0" rtl="0" algn="l">
              <a:spcBef>
                <a:spcPts val="0"/>
              </a:spcBef>
              <a:spcAft>
                <a:spcPts val="0"/>
              </a:spcAft>
              <a:buNone/>
            </a:pPr>
            <a:r>
              <a:t/>
            </a:r>
            <a:endParaRPr/>
          </a:p>
        </p:txBody>
      </p:sp>
      <p:pic>
        <p:nvPicPr>
          <p:cNvPr id="290" name="Google Shape;290;g3fa5a01509b_2_250" title="Screenshot 2026-09-08 103858.png"/>
          <p:cNvPicPr preferRelativeResize="0"/>
          <p:nvPr/>
        </p:nvPicPr>
        <p:blipFill>
          <a:blip r:embed="rId3">
            <a:alphaModFix/>
          </a:blip>
          <a:stretch>
            <a:fillRect/>
          </a:stretch>
        </p:blipFill>
        <p:spPr>
          <a:xfrm>
            <a:off x="283025" y="876238"/>
            <a:ext cx="11330473" cy="5590911"/>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fa5a01509b_2_258"/>
          <p:cNvSpPr txBox="1"/>
          <p:nvPr>
            <p:ph idx="1" type="body"/>
          </p:nvPr>
        </p:nvSpPr>
        <p:spPr>
          <a:xfrm>
            <a:off x="359700" y="858350"/>
            <a:ext cx="11472600" cy="57990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000000"/>
                </a:solidFill>
              </a:rPr>
              <a:t>The regional risk analysis reveals a clear, direct correlation between environmental weather drivers and biological threat levels across all observations:</a:t>
            </a:r>
            <a:endParaRPr sz="1800">
              <a:solidFill>
                <a:srgbClr val="000000"/>
              </a:solidFill>
            </a:endParaRPr>
          </a:p>
          <a:p>
            <a:pPr indent="-342900" lvl="0" marL="457200" rtl="0" algn="l">
              <a:lnSpc>
                <a:spcPct val="115000"/>
              </a:lnSpc>
              <a:spcBef>
                <a:spcPts val="1100"/>
              </a:spcBef>
              <a:spcAft>
                <a:spcPts val="0"/>
              </a:spcAft>
              <a:buClr>
                <a:srgbClr val="000000"/>
              </a:buClr>
              <a:buSzPts val="1800"/>
              <a:buFont typeface="Arial"/>
              <a:buChar char="●"/>
            </a:pPr>
            <a:r>
              <a:rPr b="1" lang="en-US" sz="1800">
                <a:solidFill>
                  <a:srgbClr val="000000"/>
                </a:solidFill>
              </a:rPr>
              <a:t>The Climate-Driven Escalation:</a:t>
            </a:r>
            <a:r>
              <a:rPr lang="en-US" sz="1800">
                <a:solidFill>
                  <a:srgbClr val="000000"/>
                </a:solidFill>
              </a:rPr>
              <a:t> The scatter plot demonstrates a distinct upward linear trend. As natural rainfall scales from low levels (</a:t>
            </a:r>
            <a:r>
              <a:rPr b="1" lang="en-US" sz="1800">
                <a:solidFill>
                  <a:srgbClr val="000000"/>
                </a:solidFill>
              </a:rPr>
              <a:t>~100 mm</a:t>
            </a:r>
            <a:r>
              <a:rPr lang="en-US" sz="1800">
                <a:solidFill>
                  <a:srgbClr val="000000"/>
                </a:solidFill>
              </a:rPr>
              <a:t>) up toward maximum bounds (</a:t>
            </a:r>
            <a:r>
              <a:rPr b="1" lang="en-US" sz="1800">
                <a:solidFill>
                  <a:srgbClr val="000000"/>
                </a:solidFill>
              </a:rPr>
              <a:t>~1,300 mm</a:t>
            </a:r>
            <a:r>
              <a:rPr lang="en-US" sz="1800">
                <a:solidFill>
                  <a:srgbClr val="000000"/>
                </a:solidFill>
              </a:rPr>
              <a:t>), the baseline Disease_Pest_Risk_pct rises steadily from a floor of </a:t>
            </a:r>
            <a:r>
              <a:rPr b="1" lang="en-US" sz="1800">
                <a:solidFill>
                  <a:srgbClr val="000000"/>
                </a:solidFill>
              </a:rPr>
              <a:t>~20%</a:t>
            </a:r>
            <a:r>
              <a:rPr lang="en-US" sz="1800">
                <a:solidFill>
                  <a:srgbClr val="000000"/>
                </a:solidFill>
              </a:rPr>
              <a:t> up to a peak concentration between </a:t>
            </a:r>
            <a:r>
              <a:rPr b="1" lang="en-US" sz="1800">
                <a:solidFill>
                  <a:srgbClr val="000000"/>
                </a:solidFill>
              </a:rPr>
              <a:t>60% and 80%</a:t>
            </a:r>
            <a:r>
              <a:rPr lang="en-US" sz="1800">
                <a:solidFill>
                  <a:srgbClr val="000000"/>
                </a:solidFill>
              </a:rPr>
              <a:t>. This confirms that higher precipitation creates high-humidity environments that systematically increase biological risk.</a:t>
            </a:r>
            <a:endParaRPr sz="1800">
              <a:solidFill>
                <a:srgbClr val="000000"/>
              </a:solidFill>
            </a:endParaRPr>
          </a:p>
          <a:p>
            <a:pPr indent="-342900" lvl="0" marL="457200" rtl="0" algn="l">
              <a:lnSpc>
                <a:spcPct val="115000"/>
              </a:lnSpc>
              <a:spcBef>
                <a:spcPts val="0"/>
              </a:spcBef>
              <a:spcAft>
                <a:spcPts val="0"/>
              </a:spcAft>
              <a:buClr>
                <a:srgbClr val="000000"/>
              </a:buClr>
              <a:buSzPts val="1800"/>
              <a:buFont typeface="Arial"/>
              <a:buChar char="●"/>
            </a:pPr>
            <a:r>
              <a:rPr b="1" lang="en-US" sz="1800">
                <a:solidFill>
                  <a:srgbClr val="000000"/>
                </a:solidFill>
              </a:rPr>
              <a:t>Geographic Homogeneity:</a:t>
            </a:r>
            <a:r>
              <a:rPr lang="en-US" sz="1800">
                <a:solidFill>
                  <a:srgbClr val="000000"/>
                </a:solidFill>
              </a:rPr>
              <a:t> Interestingly, the color distribution shows that all states (e.g., Andhra Pradesh, Maharashtra, Gujarat, etc.) are completely overlapping and distributed evenly across the entire rainfall spectrum. This visual signature confirms that the synthetic data generation pipeline randomly assigned geographic state labels to the rows without binding specific states to real-world regional climate limits (such as assigning low rainfall exclusively to arid states like Gujarat).</a:t>
            </a:r>
            <a:endParaRPr sz="1800">
              <a:solidFill>
                <a:srgbClr val="000000"/>
              </a:solidFill>
            </a:endParaRPr>
          </a:p>
          <a:p>
            <a:pPr indent="0" lvl="0" marL="0" rtl="0" algn="l">
              <a:lnSpc>
                <a:spcPct val="115000"/>
              </a:lnSpc>
              <a:spcBef>
                <a:spcPts val="1100"/>
              </a:spcBef>
              <a:spcAft>
                <a:spcPts val="0"/>
              </a:spcAft>
              <a:buClr>
                <a:schemeClr val="dk1"/>
              </a:buClr>
              <a:buSzPts val="1100"/>
              <a:buFont typeface="Arial"/>
              <a:buNone/>
            </a:pPr>
            <a:r>
              <a:rPr lang="en-US" sz="1800">
                <a:solidFill>
                  <a:srgbClr val="000000"/>
                </a:solidFill>
              </a:rPr>
              <a:t>This clear linear trend proves that 'Risk' is driven by environmental precipitation thresholds rather than geographic administration in this dataset. Downstream machine learning models can leverage these distinct rainfall-driven baselines—rather than raw state labels—to predict yield and profit failures far more accurately by treating the climate gradient as a primary predictive axis.</a:t>
            </a:r>
            <a:endParaRPr sz="1800">
              <a:solidFill>
                <a:srgbClr val="000000"/>
              </a:solidFill>
            </a:endParaRPr>
          </a:p>
          <a:p>
            <a:pPr indent="0" lvl="0" marL="0" rtl="0" algn="l">
              <a:spcBef>
                <a:spcPts val="1000"/>
              </a:spcBef>
              <a:spcAft>
                <a:spcPts val="0"/>
              </a:spcAft>
              <a:buNone/>
            </a:pPr>
            <a:r>
              <a:t/>
            </a:r>
            <a:endParaRPr sz="1800">
              <a:solidFill>
                <a:srgbClr val="000000"/>
              </a:solidFill>
            </a:endParaRPr>
          </a:p>
        </p:txBody>
      </p:sp>
      <p:sp>
        <p:nvSpPr>
          <p:cNvPr id="297" name="Google Shape;297;g3fa5a01509b_2_258"/>
          <p:cNvSpPr txBox="1"/>
          <p:nvPr>
            <p:ph type="title"/>
          </p:nvPr>
        </p:nvSpPr>
        <p:spPr>
          <a:xfrm>
            <a:off x="359700" y="84925"/>
            <a:ext cx="8117400" cy="5610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33333"/>
              <a:buFont typeface="Trebuchet MS"/>
              <a:buNone/>
            </a:pPr>
            <a:r>
              <a:rPr lang="en-US" sz="3600" u="sng"/>
              <a:t>RESULTS_3 - Interpretation</a:t>
            </a:r>
            <a:endParaRPr sz="3600" u="sng"/>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fa5a01509b_2_266"/>
          <p:cNvSpPr txBox="1"/>
          <p:nvPr>
            <p:ph type="title"/>
          </p:nvPr>
        </p:nvSpPr>
        <p:spPr>
          <a:xfrm>
            <a:off x="320975" y="132750"/>
            <a:ext cx="11060700" cy="66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3600" u="sng"/>
              <a:t>RESULTS_4 -</a:t>
            </a:r>
            <a:endParaRPr sz="3600" u="sng"/>
          </a:p>
        </p:txBody>
      </p:sp>
      <p:sp>
        <p:nvSpPr>
          <p:cNvPr id="303" name="Google Shape;303;g3fa5a01509b_2_266"/>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4" name="Google Shape;304;g3fa5a01509b_2_266"/>
          <p:cNvSpPr txBox="1"/>
          <p:nvPr>
            <p:ph idx="1" type="body"/>
          </p:nvPr>
        </p:nvSpPr>
        <p:spPr>
          <a:xfrm>
            <a:off x="337725" y="1299900"/>
            <a:ext cx="11359500" cy="4258200"/>
          </a:xfrm>
          <a:prstGeom prst="rect">
            <a:avLst/>
          </a:prstGeom>
          <a:noFill/>
          <a:ln>
            <a:noFill/>
          </a:ln>
        </p:spPr>
        <p:txBody>
          <a:bodyPr anchorCtr="0" anchor="t" bIns="45700" lIns="91425" spcFirstLastPara="1" rIns="91425" wrap="square" tIns="45700">
            <a:noAutofit/>
          </a:bodyPr>
          <a:lstStyle/>
          <a:p>
            <a:pPr indent="0" lvl="0" marL="76200" rtl="0" algn="l">
              <a:spcBef>
                <a:spcPts val="1100"/>
              </a:spcBef>
              <a:spcAft>
                <a:spcPts val="0"/>
              </a:spcAft>
              <a:buSzPts val="1100"/>
              <a:buNone/>
            </a:pPr>
            <a:r>
              <a:rPr b="1" lang="en-US">
                <a:solidFill>
                  <a:schemeClr val="dk1"/>
                </a:solidFill>
              </a:rPr>
              <a:t>Question</a:t>
            </a:r>
            <a:r>
              <a:rPr lang="en-US">
                <a:solidFill>
                  <a:schemeClr val="dk1"/>
                </a:solidFill>
              </a:rPr>
              <a:t>:How does the application of core chemical inputs (Fertilizer_kg_ha) vary across different Irrigation_Methods, and are modern precision systems linked to more standardized or dynamic resource deployment compared to traditional methods?</a:t>
            </a:r>
            <a:endParaRPr>
              <a:solidFill>
                <a:schemeClr val="dk1"/>
              </a:solidFill>
            </a:endParaRPr>
          </a:p>
          <a:p>
            <a:pPr indent="0" lvl="0" marL="76200" rtl="0" algn="l">
              <a:spcBef>
                <a:spcPts val="1800"/>
              </a:spcBef>
              <a:spcAft>
                <a:spcPts val="0"/>
              </a:spcAft>
              <a:buSzPts val="1100"/>
              <a:buNone/>
            </a:pPr>
            <a:r>
              <a:rPr b="1" lang="en-US">
                <a:solidFill>
                  <a:schemeClr val="dk1"/>
                </a:solidFill>
              </a:rPr>
              <a:t>Analysis</a:t>
            </a:r>
            <a:r>
              <a:rPr lang="en-US">
                <a:solidFill>
                  <a:schemeClr val="dk1"/>
                </a:solidFill>
              </a:rPr>
              <a:t>:This analysis evaluates resource usage by cross-examining input management (Fertilizer_kg_ha) against infrastructural choices (Irrigation_Method).</a:t>
            </a:r>
            <a:endParaRPr>
              <a:solidFill>
                <a:schemeClr val="dk1"/>
              </a:solidFill>
            </a:endParaRPr>
          </a:p>
          <a:p>
            <a:pPr indent="-355600" lvl="0" marL="457200" rtl="0" algn="l">
              <a:lnSpc>
                <a:spcPct val="115000"/>
              </a:lnSpc>
              <a:spcBef>
                <a:spcPts val="1200"/>
              </a:spcBef>
              <a:spcAft>
                <a:spcPts val="0"/>
              </a:spcAft>
              <a:buClr>
                <a:schemeClr val="dk1"/>
              </a:buClr>
              <a:buSzPts val="2000"/>
              <a:buFont typeface="Arial"/>
              <a:buChar char="●"/>
            </a:pPr>
            <a:r>
              <a:rPr b="1" lang="en-US">
                <a:solidFill>
                  <a:schemeClr val="dk1"/>
                </a:solidFill>
              </a:rPr>
              <a:t>Description:</a:t>
            </a:r>
            <a:r>
              <a:rPr lang="en-US">
                <a:solidFill>
                  <a:schemeClr val="dk1"/>
                </a:solidFill>
              </a:rPr>
              <a:t> Managing fertilizer costs is essential to fixing the financial deficits uncovered in our seasonal analysis. By mapping chemical placement to irrigation systems, we can check if modern engineering choices (like Drip or Sprinkler) help optimize and control input costs, or if farmers apply identical quantities across the board regardless of technology.</a:t>
            </a:r>
            <a:endParaRPr>
              <a:solidFill>
                <a:schemeClr val="dk1"/>
              </a:solidFill>
            </a:endParaRPr>
          </a:p>
          <a:p>
            <a:pPr indent="0" lvl="0" marL="76200" rtl="0" algn="l">
              <a:spcBef>
                <a:spcPts val="1100"/>
              </a:spcBef>
              <a:spcAft>
                <a:spcPts val="0"/>
              </a:spcAft>
              <a:buSzPts val="1100"/>
              <a:buNone/>
            </a:pPr>
            <a:r>
              <a:t/>
            </a:r>
            <a:endParaRPr>
              <a:solidFill>
                <a:schemeClr val="dk1"/>
              </a:solidFill>
            </a:endParaRPr>
          </a:p>
          <a:p>
            <a:pPr indent="0" lvl="0" marL="0" rtl="0" algn="l">
              <a:spcBef>
                <a:spcPts val="1500"/>
              </a:spcBef>
              <a:spcAft>
                <a:spcPts val="0"/>
              </a:spcAft>
              <a:buSzPts val="16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ppt_w</p:attrName>
                                        </p:attrNameLst>
                                      </p:cBhvr>
                                      <p:tavLst>
                                        <p:tav fmla="" tm="0">
                                          <p:val>
                                            <p:strVal val="0"/>
                                          </p:val>
                                        </p:tav>
                                        <p:tav fmla="" tm="100000">
                                          <p:val>
                                            <p:strVal val="#ppt_w"/>
                                          </p:val>
                                        </p:tav>
                                      </p:tavLst>
                                    </p:anim>
                                    <p:anim calcmode="lin" valueType="num">
                                      <p:cBhvr additive="base">
                                        <p:cTn dur="500"/>
                                        <p:tgtEl>
                                          <p:spTgt spid="30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0" st="0"/>
                                            </p:txEl>
                                          </p:spTgt>
                                        </p:tgtEl>
                                        <p:attrNameLst>
                                          <p:attrName>style.visibility</p:attrName>
                                        </p:attrNameLst>
                                      </p:cBhvr>
                                      <p:to>
                                        <p:strVal val="visible"/>
                                      </p:to>
                                    </p:set>
                                    <p:animEffect filter="fade" transition="in">
                                      <p:cBhvr>
                                        <p:cTn dur="1000"/>
                                        <p:tgtEl>
                                          <p:spTgt spid="3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1" st="1"/>
                                            </p:txEl>
                                          </p:spTgt>
                                        </p:tgtEl>
                                        <p:attrNameLst>
                                          <p:attrName>style.visibility</p:attrName>
                                        </p:attrNameLst>
                                      </p:cBhvr>
                                      <p:to>
                                        <p:strVal val="visible"/>
                                      </p:to>
                                    </p:set>
                                    <p:animEffect filter="fade" transition="in">
                                      <p:cBhvr>
                                        <p:cTn dur="1000"/>
                                        <p:tgtEl>
                                          <p:spTgt spid="3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2" st="2"/>
                                            </p:txEl>
                                          </p:spTgt>
                                        </p:tgtEl>
                                        <p:attrNameLst>
                                          <p:attrName>style.visibility</p:attrName>
                                        </p:attrNameLst>
                                      </p:cBhvr>
                                      <p:to>
                                        <p:strVal val="visible"/>
                                      </p:to>
                                    </p:set>
                                    <p:animEffect filter="fade" transition="in">
                                      <p:cBhvr>
                                        <p:cTn dur="1000"/>
                                        <p:tgtEl>
                                          <p:spTgt spid="3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3" st="3"/>
                                            </p:txEl>
                                          </p:spTgt>
                                        </p:tgtEl>
                                        <p:attrNameLst>
                                          <p:attrName>style.visibility</p:attrName>
                                        </p:attrNameLst>
                                      </p:cBhvr>
                                      <p:to>
                                        <p:strVal val="visible"/>
                                      </p:to>
                                    </p:set>
                                    <p:animEffect filter="fade" transition="in">
                                      <p:cBhvr>
                                        <p:cTn dur="1000"/>
                                        <p:tgtEl>
                                          <p:spTgt spid="3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xEl>
                                              <p:pRg end="4" st="4"/>
                                            </p:txEl>
                                          </p:spTgt>
                                        </p:tgtEl>
                                        <p:attrNameLst>
                                          <p:attrName>style.visibility</p:attrName>
                                        </p:attrNameLst>
                                      </p:cBhvr>
                                      <p:to>
                                        <p:strVal val="visible"/>
                                      </p:to>
                                    </p:set>
                                    <p:animEffect filter="fade" transition="in">
                                      <p:cBhvr>
                                        <p:cTn dur="1000"/>
                                        <p:tgtEl>
                                          <p:spTgt spid="30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9"/>
          <p:cNvSpPr txBox="1"/>
          <p:nvPr>
            <p:ph type="title"/>
          </p:nvPr>
        </p:nvSpPr>
        <p:spPr>
          <a:xfrm>
            <a:off x="675952" y="370600"/>
            <a:ext cx="74796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3900" u="sng"/>
              <a:t>RESULTS 4- Visualization</a:t>
            </a:r>
            <a:endParaRPr sz="3900" u="sng"/>
          </a:p>
        </p:txBody>
      </p:sp>
      <p:pic>
        <p:nvPicPr>
          <p:cNvPr id="310" name="Google Shape;310;p9" title="Screenshot 2026-09-08 103954.png"/>
          <p:cNvPicPr preferRelativeResize="0"/>
          <p:nvPr/>
        </p:nvPicPr>
        <p:blipFill>
          <a:blip r:embed="rId3">
            <a:alphaModFix/>
          </a:blip>
          <a:stretch>
            <a:fillRect/>
          </a:stretch>
        </p:blipFill>
        <p:spPr>
          <a:xfrm>
            <a:off x="647700" y="1354000"/>
            <a:ext cx="10357573" cy="4965519"/>
          </a:xfrm>
          <a:prstGeom prst="rect">
            <a:avLst/>
          </a:prstGeom>
          <a:noFill/>
          <a:ln cap="flat" cmpd="sng" w="9525">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ppt_w</p:attrName>
                                        </p:attrNameLst>
                                      </p:cBhvr>
                                      <p:tavLst>
                                        <p:tav fmla="" tm="0">
                                          <p:val>
                                            <p:strVal val="0"/>
                                          </p:val>
                                        </p:tav>
                                        <p:tav fmla="" tm="100000">
                                          <p:val>
                                            <p:strVal val="#ppt_w"/>
                                          </p:val>
                                        </p:tav>
                                      </p:tavLst>
                                    </p:anim>
                                    <p:anim calcmode="lin" valueType="num">
                                      <p:cBhvr additive="base">
                                        <p:cTn dur="500"/>
                                        <p:tgtEl>
                                          <p:spTgt spid="30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fa5a01509b_2_275"/>
          <p:cNvSpPr txBox="1"/>
          <p:nvPr>
            <p:ph idx="1" type="body"/>
          </p:nvPr>
        </p:nvSpPr>
        <p:spPr>
          <a:xfrm>
            <a:off x="359700" y="858350"/>
            <a:ext cx="11472600" cy="57990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800">
                <a:solidFill>
                  <a:schemeClr val="dk1"/>
                </a:solidFill>
              </a:rPr>
              <a:t>The resource usage analysis reveals a highly uniform, structurally bounded application profile across all irrigation categories:</a:t>
            </a:r>
            <a:endParaRPr sz="1800">
              <a:solidFill>
                <a:schemeClr val="dk1"/>
              </a:solidFill>
            </a:endParaRPr>
          </a:p>
          <a:p>
            <a:pPr indent="-342900" lvl="0" marL="457200" rtl="0" algn="l">
              <a:lnSpc>
                <a:spcPct val="115000"/>
              </a:lnSpc>
              <a:spcBef>
                <a:spcPts val="1100"/>
              </a:spcBef>
              <a:spcAft>
                <a:spcPts val="0"/>
              </a:spcAft>
              <a:buClr>
                <a:schemeClr val="dk1"/>
              </a:buClr>
              <a:buSzPts val="1800"/>
              <a:buFont typeface="Arial"/>
              <a:buChar char="●"/>
            </a:pPr>
            <a:r>
              <a:rPr b="1" lang="en-US" sz="1800">
                <a:solidFill>
                  <a:schemeClr val="dk1"/>
                </a:solidFill>
              </a:rPr>
              <a:t>Standardized Baseline Management:</a:t>
            </a:r>
            <a:r>
              <a:rPr lang="en-US" sz="1800">
                <a:solidFill>
                  <a:schemeClr val="dk1"/>
                </a:solidFill>
              </a:rPr>
              <a:t> The center of mass for all four violin shapes—and the inner median line within each boxplot—sits uniformly at approximately </a:t>
            </a:r>
            <a:r>
              <a:rPr b="1" lang="en-US" sz="1800">
                <a:solidFill>
                  <a:schemeClr val="dk1"/>
                </a:solidFill>
              </a:rPr>
              <a:t>185 kg/ha</a:t>
            </a:r>
            <a:r>
              <a:rPr lang="en-US" sz="1800">
                <a:solidFill>
                  <a:schemeClr val="dk1"/>
                </a:solidFill>
              </a:rPr>
              <a:t>. The identical shapes confirm that fertilizer application follows rigid regional packages of practices rather than being dynamically adjusted based on the precision capabilities of modern drip or sprinkler networks.</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b="1" lang="en-US" sz="1800">
                <a:solidFill>
                  <a:schemeClr val="dk1"/>
                </a:solidFill>
              </a:rPr>
              <a:t>Identical Scale Boundaries:</a:t>
            </a:r>
            <a:r>
              <a:rPr lang="en-US" sz="1800">
                <a:solidFill>
                  <a:schemeClr val="dk1"/>
                </a:solidFill>
              </a:rPr>
              <a:t> The interquartile ranges (the gray boxes) are bounded almost identically between </a:t>
            </a:r>
            <a:r>
              <a:rPr b="1" lang="en-US" sz="1800">
                <a:solidFill>
                  <a:schemeClr val="dk1"/>
                </a:solidFill>
              </a:rPr>
              <a:t>~145 kg/ha and ~225 kg/ha</a:t>
            </a:r>
            <a:r>
              <a:rPr lang="en-US" sz="1800">
                <a:solidFill>
                  <a:schemeClr val="dk1"/>
                </a:solidFill>
              </a:rPr>
              <a:t> across all methods.</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b="1" lang="en-US" sz="1800">
                <a:solidFill>
                  <a:schemeClr val="dk1"/>
                </a:solidFill>
              </a:rPr>
              <a:t>Upper-Tail Extremes:</a:t>
            </a:r>
            <a:r>
              <a:rPr lang="en-US" sz="1800">
                <a:solidFill>
                  <a:schemeClr val="dk1"/>
                </a:solidFill>
              </a:rPr>
              <a:t> All four irrigation types exhibit long, vertical tails reaching up to 300 kg/ha, with </a:t>
            </a:r>
            <a:r>
              <a:rPr b="1" lang="en-US" sz="1800">
                <a:solidFill>
                  <a:schemeClr val="dk1"/>
                </a:solidFill>
              </a:rPr>
              <a:t>Drip, Rainfed, and Sprinkler irrigation</a:t>
            </a:r>
            <a:r>
              <a:rPr lang="en-US" sz="1800">
                <a:solidFill>
                  <a:schemeClr val="dk1"/>
                </a:solidFill>
              </a:rPr>
              <a:t> displaying extreme statistical outliers that climb all the way to a maximum ceiling of </a:t>
            </a:r>
            <a:r>
              <a:rPr b="1" lang="en-US" sz="1800">
                <a:solidFill>
                  <a:schemeClr val="dk1"/>
                </a:solidFill>
              </a:rPr>
              <a:t>400 kg/ha</a:t>
            </a:r>
            <a:r>
              <a:rPr lang="en-US" sz="1800">
                <a:solidFill>
                  <a:schemeClr val="dk1"/>
                </a:solidFill>
              </a:rPr>
              <a:t>. This confirms that while the core operations are highly uniform, a small fraction of farms across all infrastructure tiers apply excessive input volumes.</a:t>
            </a:r>
            <a:endParaRPr sz="1800">
              <a:solidFill>
                <a:schemeClr val="dk1"/>
              </a:solidFill>
            </a:endParaRPr>
          </a:p>
          <a:p>
            <a:pPr indent="0" lvl="0" marL="0" rtl="0" algn="l">
              <a:lnSpc>
                <a:spcPct val="115000"/>
              </a:lnSpc>
              <a:spcBef>
                <a:spcPts val="1100"/>
              </a:spcBef>
              <a:spcAft>
                <a:spcPts val="0"/>
              </a:spcAft>
              <a:buClr>
                <a:schemeClr val="dk1"/>
              </a:buClr>
              <a:buSzPts val="1100"/>
              <a:buFont typeface="Arial"/>
              <a:buNone/>
            </a:pPr>
            <a:r>
              <a:rPr lang="en-US" sz="1800">
                <a:solidFill>
                  <a:schemeClr val="dk1"/>
                </a:solidFill>
              </a:rPr>
              <a:t>This visual and mathematical uniformity confirms that fertilizer distribution operates independently of irrigation choice in this dataset. Rather than showing dynamic adjustments based on moisture levels or precision technology, fertilizer usage follows a highly standardized regional baseline. This indicates that input optimization models will need to look at other compound features (like crop types or target soil conditions) to isolate true cost-saving behaviors.</a:t>
            </a:r>
            <a:endParaRPr sz="1800">
              <a:solidFill>
                <a:schemeClr val="dk1"/>
              </a:solidFill>
            </a:endParaRPr>
          </a:p>
          <a:p>
            <a:pPr indent="0" lvl="0" marL="0" rtl="0" algn="l">
              <a:spcBef>
                <a:spcPts val="1000"/>
              </a:spcBef>
              <a:spcAft>
                <a:spcPts val="0"/>
              </a:spcAft>
              <a:buNone/>
            </a:pPr>
            <a:r>
              <a:t/>
            </a:r>
            <a:endParaRPr sz="1800">
              <a:solidFill>
                <a:srgbClr val="000000"/>
              </a:solidFill>
            </a:endParaRPr>
          </a:p>
        </p:txBody>
      </p:sp>
      <p:sp>
        <p:nvSpPr>
          <p:cNvPr id="317" name="Google Shape;317;g3fa5a01509b_2_275"/>
          <p:cNvSpPr txBox="1"/>
          <p:nvPr>
            <p:ph type="title"/>
          </p:nvPr>
        </p:nvSpPr>
        <p:spPr>
          <a:xfrm>
            <a:off x="359700" y="84925"/>
            <a:ext cx="8685300" cy="5610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sz="3600" u="sng"/>
              <a:t>RESULTS_4 - Interpretation</a:t>
            </a:r>
            <a:endParaRPr sz="3600" u="sng"/>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fa5a01509b_2_282"/>
          <p:cNvSpPr txBox="1"/>
          <p:nvPr>
            <p:ph type="title"/>
          </p:nvPr>
        </p:nvSpPr>
        <p:spPr>
          <a:xfrm>
            <a:off x="320975" y="132750"/>
            <a:ext cx="11060700" cy="666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sz="3600" u="sng"/>
              <a:t>RESULTS_5 -</a:t>
            </a:r>
            <a:endParaRPr sz="3600" u="sng"/>
          </a:p>
        </p:txBody>
      </p:sp>
      <p:sp>
        <p:nvSpPr>
          <p:cNvPr id="323" name="Google Shape;323;g3fa5a01509b_2_282"/>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24" name="Google Shape;324;g3fa5a01509b_2_282"/>
          <p:cNvSpPr txBox="1"/>
          <p:nvPr>
            <p:ph idx="1" type="body"/>
          </p:nvPr>
        </p:nvSpPr>
        <p:spPr>
          <a:xfrm>
            <a:off x="337725" y="1299900"/>
            <a:ext cx="11359500" cy="4258200"/>
          </a:xfrm>
          <a:prstGeom prst="rect">
            <a:avLst/>
          </a:prstGeom>
          <a:noFill/>
          <a:ln>
            <a:noFill/>
          </a:ln>
        </p:spPr>
        <p:txBody>
          <a:bodyPr anchorCtr="0" anchor="t" bIns="45700" lIns="91425" spcFirstLastPara="1" rIns="91425" wrap="square" tIns="45700">
            <a:noAutofit/>
          </a:bodyPr>
          <a:lstStyle/>
          <a:p>
            <a:pPr indent="0" lvl="0" marL="76200" rtl="0" algn="l">
              <a:spcBef>
                <a:spcPts val="1800"/>
              </a:spcBef>
              <a:spcAft>
                <a:spcPts val="0"/>
              </a:spcAft>
              <a:buClr>
                <a:schemeClr val="dk1"/>
              </a:buClr>
              <a:buSzPts val="1100"/>
              <a:buFont typeface="Arial"/>
              <a:buNone/>
            </a:pPr>
            <a:r>
              <a:rPr b="1" lang="en-US" sz="1900">
                <a:solidFill>
                  <a:schemeClr val="dk1"/>
                </a:solidFill>
              </a:rPr>
              <a:t>Question</a:t>
            </a:r>
            <a:r>
              <a:rPr lang="en-US" sz="1900">
                <a:solidFill>
                  <a:schemeClr val="dk1"/>
                </a:solidFill>
              </a:rPr>
              <a:t>:How does biological input quality (Seed_Quality_Score) directly influence the financial viability (Profit_INR) of farming operations, and does superior seed quality provide a structural cushion against net financial deficits?</a:t>
            </a:r>
            <a:endParaRPr sz="1900">
              <a:solidFill>
                <a:schemeClr val="dk1"/>
              </a:solidFill>
            </a:endParaRPr>
          </a:p>
          <a:p>
            <a:pPr indent="0" lvl="0" marL="76200" rtl="0" algn="l">
              <a:spcBef>
                <a:spcPts val="1800"/>
              </a:spcBef>
              <a:spcAft>
                <a:spcPts val="0"/>
              </a:spcAft>
              <a:buClr>
                <a:schemeClr val="dk1"/>
              </a:buClr>
              <a:buSzPts val="1100"/>
              <a:buFont typeface="Arial"/>
              <a:buNone/>
            </a:pPr>
            <a:r>
              <a:rPr b="1" lang="en-US" sz="1900">
                <a:solidFill>
                  <a:schemeClr val="dk1"/>
                </a:solidFill>
              </a:rPr>
              <a:t>Analysis</a:t>
            </a:r>
            <a:r>
              <a:rPr lang="en-US" sz="1900">
                <a:solidFill>
                  <a:schemeClr val="dk1"/>
                </a:solidFill>
              </a:rPr>
              <a:t>:This analysis cross-examines the biological input layer (Seed_Quality_Score) against ultimate economic success (Profit_INR), color-coded by the overarching farming Season.</a:t>
            </a:r>
            <a:endParaRPr sz="1900">
              <a:solidFill>
                <a:schemeClr val="dk1"/>
              </a:solidFill>
            </a:endParaRPr>
          </a:p>
          <a:p>
            <a:pPr indent="-349250" lvl="0" marL="457200" rtl="0" algn="l">
              <a:lnSpc>
                <a:spcPct val="115000"/>
              </a:lnSpc>
              <a:spcBef>
                <a:spcPts val="1200"/>
              </a:spcBef>
              <a:spcAft>
                <a:spcPts val="0"/>
              </a:spcAft>
              <a:buClr>
                <a:schemeClr val="dk1"/>
              </a:buClr>
              <a:buSzPts val="1900"/>
              <a:buFont typeface="Trebuchet MS"/>
              <a:buChar char="●"/>
            </a:pPr>
            <a:r>
              <a:rPr lang="en-US" sz="1900">
                <a:solidFill>
                  <a:schemeClr val="dk1"/>
                </a:solidFill>
              </a:rPr>
              <a:t>Description: To understand how to reverse the deep financial deficits found in the Zaid season and grain commodity segments, we must identify which human-controlled factors have the strongest relationship with profitability. Testing whether premium seed quality consistently protects a farm from running a net deficit—or if environmental constraints override input quality entirely—tells us exactly where capital should be allocated to maximize financial returns.</a:t>
            </a:r>
            <a:endParaRPr sz="19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2"/>
                                        </p:tgtEl>
                                        <p:attrNameLst>
                                          <p:attrName>style.visibility</p:attrName>
                                        </p:attrNameLst>
                                      </p:cBhvr>
                                      <p:to>
                                        <p:strVal val="visible"/>
                                      </p:to>
                                    </p:set>
                                    <p:anim calcmode="lin" valueType="num">
                                      <p:cBhvr additive="base">
                                        <p:cTn dur="500"/>
                                        <p:tgtEl>
                                          <p:spTgt spid="322"/>
                                        </p:tgtEl>
                                        <p:attrNameLst>
                                          <p:attrName>ppt_w</p:attrName>
                                        </p:attrNameLst>
                                      </p:cBhvr>
                                      <p:tavLst>
                                        <p:tav fmla="" tm="0">
                                          <p:val>
                                            <p:strVal val="0"/>
                                          </p:val>
                                        </p:tav>
                                        <p:tav fmla="" tm="100000">
                                          <p:val>
                                            <p:strVal val="#ppt_w"/>
                                          </p:val>
                                        </p:tav>
                                      </p:tavLst>
                                    </p:anim>
                                    <p:anim calcmode="lin" valueType="num">
                                      <p:cBhvr additive="base">
                                        <p:cTn dur="500"/>
                                        <p:tgtEl>
                                          <p:spTgt spid="3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10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10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1000"/>
                                        <p:tgtEl>
                                          <p:spTgt spid="32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0"/>
          <p:cNvSpPr txBox="1"/>
          <p:nvPr>
            <p:ph type="title"/>
          </p:nvPr>
        </p:nvSpPr>
        <p:spPr>
          <a:xfrm>
            <a:off x="675951" y="185600"/>
            <a:ext cx="72948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320"/>
              <a:buFont typeface="Trebuchet MS"/>
              <a:buNone/>
            </a:pPr>
            <a:r>
              <a:rPr lang="en-US" sz="3720" u="sng"/>
              <a:t>RESULTS_5 - Visualization</a:t>
            </a:r>
            <a:endParaRPr sz="3720" u="sng"/>
          </a:p>
        </p:txBody>
      </p:sp>
      <p:sp>
        <p:nvSpPr>
          <p:cNvPr id="330" name="Google Shape;330;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31" name="Google Shape;331;p1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32" name="Google Shape;332;p10" title="Screenshot 2026-09-08 104106.png"/>
          <p:cNvPicPr preferRelativeResize="0"/>
          <p:nvPr/>
        </p:nvPicPr>
        <p:blipFill>
          <a:blip r:embed="rId3">
            <a:alphaModFix/>
          </a:blip>
          <a:stretch>
            <a:fillRect/>
          </a:stretch>
        </p:blipFill>
        <p:spPr>
          <a:xfrm>
            <a:off x="742625" y="1180775"/>
            <a:ext cx="10801676" cy="5140750"/>
          </a:xfrm>
          <a:prstGeom prst="rect">
            <a:avLst/>
          </a:prstGeom>
          <a:noFill/>
          <a:ln cap="flat" cmpd="sng" w="9525">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9"/>
                                        </p:tgtEl>
                                        <p:attrNameLst>
                                          <p:attrName>style.visibility</p:attrName>
                                        </p:attrNameLst>
                                      </p:cBhvr>
                                      <p:to>
                                        <p:strVal val="visible"/>
                                      </p:to>
                                    </p:set>
                                    <p:anim calcmode="lin" valueType="num">
                                      <p:cBhvr additive="base">
                                        <p:cTn dur="500"/>
                                        <p:tgtEl>
                                          <p:spTgt spid="329"/>
                                        </p:tgtEl>
                                        <p:attrNameLst>
                                          <p:attrName>ppt_w</p:attrName>
                                        </p:attrNameLst>
                                      </p:cBhvr>
                                      <p:tavLst>
                                        <p:tav fmla="" tm="0">
                                          <p:val>
                                            <p:strVal val="0"/>
                                          </p:val>
                                        </p:tav>
                                        <p:tav fmla="" tm="100000">
                                          <p:val>
                                            <p:strVal val="#ppt_w"/>
                                          </p:val>
                                        </p:tav>
                                      </p:tavLst>
                                    </p:anim>
                                    <p:anim calcmode="lin" valueType="num">
                                      <p:cBhvr additive="base">
                                        <p:cTn dur="500"/>
                                        <p:tgtEl>
                                          <p:spTgt spid="3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gtEl>
                                        <p:attrNameLst>
                                          <p:attrName>style.visibility</p:attrName>
                                        </p:attrNameLst>
                                      </p:cBhvr>
                                      <p:to>
                                        <p:strVal val="visible"/>
                                      </p:to>
                                    </p:set>
                                    <p:animEffect filter="fade" transition="in">
                                      <p:cBhvr>
                                        <p:cTn dur="1000"/>
                                        <p:tgtEl>
                                          <p:spTgt spid="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3fa5a01509b_2_291"/>
          <p:cNvSpPr txBox="1"/>
          <p:nvPr>
            <p:ph idx="1" type="body"/>
          </p:nvPr>
        </p:nvSpPr>
        <p:spPr>
          <a:xfrm>
            <a:off x="359700" y="858350"/>
            <a:ext cx="11713800" cy="57990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700">
                <a:solidFill>
                  <a:schemeClr val="dk1"/>
                </a:solidFill>
              </a:rPr>
              <a:t>The economic performance analysis maps the limits of biological quality controls against macro-environmental seasonal realities:</a:t>
            </a:r>
            <a:endParaRPr sz="1700">
              <a:solidFill>
                <a:schemeClr val="dk1"/>
              </a:solidFill>
            </a:endParaRPr>
          </a:p>
          <a:p>
            <a:pPr indent="-336550" lvl="0" marL="457200" rtl="0" algn="l">
              <a:lnSpc>
                <a:spcPct val="115000"/>
              </a:lnSpc>
              <a:spcBef>
                <a:spcPts val="1100"/>
              </a:spcBef>
              <a:spcAft>
                <a:spcPts val="0"/>
              </a:spcAft>
              <a:buClr>
                <a:schemeClr val="dk1"/>
              </a:buClr>
              <a:buSzPts val="1700"/>
              <a:buFont typeface="Arial"/>
              <a:buChar char="●"/>
            </a:pPr>
            <a:r>
              <a:rPr b="1" lang="en-US" sz="1700">
                <a:solidFill>
                  <a:schemeClr val="dk1"/>
                </a:solidFill>
              </a:rPr>
              <a:t>Truncated Input Range:</a:t>
            </a:r>
            <a:r>
              <a:rPr lang="en-US" sz="1700">
                <a:solidFill>
                  <a:schemeClr val="dk1"/>
                </a:solidFill>
              </a:rPr>
              <a:t> The visual layout reveals that the </a:t>
            </a:r>
            <a:r>
              <a:rPr lang="en-US" sz="1700">
                <a:solidFill>
                  <a:srgbClr val="188038"/>
                </a:solidFill>
              </a:rPr>
              <a:t>Seed_Quality_Score</a:t>
            </a:r>
            <a:r>
              <a:rPr lang="en-US" sz="1700">
                <a:solidFill>
                  <a:schemeClr val="dk1"/>
                </a:solidFill>
              </a:rPr>
              <a:t> possesses a strict quality floor at </a:t>
            </a:r>
            <a:r>
              <a:rPr b="1" lang="en-US" sz="1700">
                <a:solidFill>
                  <a:schemeClr val="dk1"/>
                </a:solidFill>
              </a:rPr>
              <a:t>0.65</a:t>
            </a:r>
            <a:r>
              <a:rPr lang="en-US" sz="1700">
                <a:solidFill>
                  <a:schemeClr val="dk1"/>
                </a:solidFill>
              </a:rPr>
              <a:t>, with all operational records compressed between </a:t>
            </a:r>
            <a:r>
              <a:rPr b="1" lang="en-US" sz="1700">
                <a:solidFill>
                  <a:schemeClr val="dk1"/>
                </a:solidFill>
              </a:rPr>
              <a:t>0.65 and 1.00</a:t>
            </a:r>
            <a:r>
              <a:rPr lang="en-US" sz="1700">
                <a:solidFill>
                  <a:schemeClr val="dk1"/>
                </a:solidFill>
              </a:rPr>
              <a:t>. This suggests that low-grade or failing seed assets are entirely absent from the dataset.</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Arial"/>
              <a:buChar char="●"/>
            </a:pPr>
            <a:r>
              <a:rPr b="1" lang="en-US" sz="1700">
                <a:solidFill>
                  <a:schemeClr val="dk1"/>
                </a:solidFill>
              </a:rPr>
              <a:t>High Financial Dispersion ( Scale):</a:t>
            </a:r>
            <a:r>
              <a:rPr lang="en-US" sz="1700">
                <a:solidFill>
                  <a:schemeClr val="dk1"/>
                </a:solidFill>
              </a:rPr>
              <a:t> The y-axis highlights massive economic variance. Even at top-tier seed ratings (</a:t>
            </a:r>
            <a:r>
              <a:rPr b="1" lang="en-US" sz="1700">
                <a:solidFill>
                  <a:schemeClr val="dk1"/>
                </a:solidFill>
              </a:rPr>
              <a:t>&gt;0.95</a:t>
            </a:r>
            <a:r>
              <a:rPr lang="en-US" sz="1700">
                <a:solidFill>
                  <a:schemeClr val="dk1"/>
                </a:solidFill>
              </a:rPr>
              <a:t>), individual farm outcomes stretch from highly lucrative windfalls past </a:t>
            </a:r>
            <a:r>
              <a:rPr b="1" lang="en-US" sz="1700">
                <a:solidFill>
                  <a:schemeClr val="dk1"/>
                </a:solidFill>
              </a:rPr>
              <a:t>4.0 million INR</a:t>
            </a:r>
            <a:r>
              <a:rPr lang="en-US" sz="1700">
                <a:solidFill>
                  <a:schemeClr val="dk1"/>
                </a:solidFill>
              </a:rPr>
              <a:t> down to intense financial deficits plunging to </a:t>
            </a:r>
            <a:r>
              <a:rPr b="1" lang="en-US" sz="1700">
                <a:solidFill>
                  <a:schemeClr val="dk1"/>
                </a:solidFill>
              </a:rPr>
              <a:t>-1.0 million INR</a:t>
            </a:r>
            <a:r>
              <a:rPr lang="en-US" sz="1700">
                <a:solidFill>
                  <a:schemeClr val="dk1"/>
                </a:solidFill>
              </a:rPr>
              <a:t> below the dashed red breakeven baseline.</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Arial"/>
              <a:buChar char="●"/>
            </a:pPr>
            <a:r>
              <a:rPr b="1" lang="en-US" sz="1700">
                <a:solidFill>
                  <a:schemeClr val="dk1"/>
                </a:solidFill>
              </a:rPr>
              <a:t>Seasonal Stratification:</a:t>
            </a:r>
            <a:r>
              <a:rPr lang="en-US" sz="1700">
                <a:solidFill>
                  <a:schemeClr val="dk1"/>
                </a:solidFill>
              </a:rPr>
              <a:t> The color distribution visually isolates the primary driver of these losses. The </a:t>
            </a:r>
            <a:r>
              <a:rPr b="1" lang="en-US" sz="1700">
                <a:solidFill>
                  <a:schemeClr val="dk1"/>
                </a:solidFill>
              </a:rPr>
              <a:t>Zaid season (green markers)</a:t>
            </a:r>
            <a:r>
              <a:rPr lang="en-US" sz="1700">
                <a:solidFill>
                  <a:schemeClr val="dk1"/>
                </a:solidFill>
              </a:rPr>
              <a:t> is completely locked out of the upper profit tiers, clustering tightly near or below the 0 INR breakeven line. This proves that severe seasonal constraints (like summer heat and high water overheads) completely override the benefits of premium seed quality, dragging even high-grade operations into net financial deficits.</a:t>
            </a:r>
            <a:endParaRPr sz="1700">
              <a:solidFill>
                <a:schemeClr val="dk1"/>
              </a:solidFill>
            </a:endParaRPr>
          </a:p>
          <a:p>
            <a:pPr indent="0" lvl="0" marL="0" rtl="0" algn="l">
              <a:lnSpc>
                <a:spcPct val="115000"/>
              </a:lnSpc>
              <a:spcBef>
                <a:spcPts val="1100"/>
              </a:spcBef>
              <a:spcAft>
                <a:spcPts val="0"/>
              </a:spcAft>
              <a:buClr>
                <a:schemeClr val="dk1"/>
              </a:buClr>
              <a:buSzPts val="1100"/>
              <a:buFont typeface="Arial"/>
              <a:buNone/>
            </a:pPr>
            <a:r>
              <a:rPr lang="en-US" sz="1700">
                <a:solidFill>
                  <a:schemeClr val="dk1"/>
                </a:solidFill>
              </a:rPr>
              <a:t>This behavior proves that while high-quality seed profiles are necessary to unlock top-tier profit frontiers, </a:t>
            </a:r>
            <a:r>
              <a:rPr b="1" lang="en-US" sz="1700">
                <a:solidFill>
                  <a:schemeClr val="dk1"/>
                </a:solidFill>
              </a:rPr>
              <a:t>biological input quality alone cannot act as a complete shield against structural financial deficits</a:t>
            </a:r>
            <a:r>
              <a:rPr lang="en-US" sz="1700">
                <a:solidFill>
                  <a:schemeClr val="dk1"/>
                </a:solidFill>
              </a:rPr>
              <a:t>. Macro-environmental stressors (like peak summer heat in the Zaid window) and high baseline water delivery costs function as stronger economic constraints, overriding the natural productivity benefits of high-grade seed variables.</a:t>
            </a:r>
            <a:endParaRPr sz="1700">
              <a:solidFill>
                <a:schemeClr val="dk1"/>
              </a:solidFill>
            </a:endParaRPr>
          </a:p>
          <a:p>
            <a:pPr indent="0" lvl="0" marL="0" rtl="0" algn="l">
              <a:spcBef>
                <a:spcPts val="1000"/>
              </a:spcBef>
              <a:spcAft>
                <a:spcPts val="0"/>
              </a:spcAft>
              <a:buNone/>
            </a:pPr>
            <a:r>
              <a:t/>
            </a:r>
            <a:endParaRPr sz="1700">
              <a:solidFill>
                <a:srgbClr val="000000"/>
              </a:solidFill>
            </a:endParaRPr>
          </a:p>
        </p:txBody>
      </p:sp>
      <p:sp>
        <p:nvSpPr>
          <p:cNvPr id="339" name="Google Shape;339;g3fa5a01509b_2_291"/>
          <p:cNvSpPr txBox="1"/>
          <p:nvPr>
            <p:ph type="title"/>
          </p:nvPr>
        </p:nvSpPr>
        <p:spPr>
          <a:xfrm>
            <a:off x="359700" y="84925"/>
            <a:ext cx="8685300" cy="5610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US" sz="3600" u="sng"/>
              <a:t>RESULTS_5 - Interpretation</a:t>
            </a:r>
            <a:endParaRPr sz="3600" u="sng"/>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1"/>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u="sng"/>
              <a:t>Future scope</a:t>
            </a:r>
            <a:endParaRPr u="sng"/>
          </a:p>
        </p:txBody>
      </p:sp>
      <p:sp>
        <p:nvSpPr>
          <p:cNvPr id="345" name="Google Shape;345;p11"/>
          <p:cNvSpPr txBox="1"/>
          <p:nvPr/>
        </p:nvSpPr>
        <p:spPr>
          <a:xfrm>
            <a:off x="675950" y="1415100"/>
            <a:ext cx="10989900" cy="4869300"/>
          </a:xfrm>
          <a:prstGeom prst="rect">
            <a:avLst/>
          </a:prstGeom>
          <a:noFill/>
          <a:ln>
            <a:noFill/>
          </a:ln>
        </p:spPr>
        <p:txBody>
          <a:bodyPr anchorCtr="0" anchor="t" bIns="45700" lIns="91425" spcFirstLastPara="1" rIns="91425" wrap="square" tIns="45700">
            <a:normAutofit lnSpcReduction="10000"/>
          </a:bodyPr>
          <a:lstStyle/>
          <a:p>
            <a:pPr indent="-368300" lvl="0" marL="457200" rtl="0" algn="l">
              <a:lnSpc>
                <a:spcPct val="100000"/>
              </a:lnSpc>
              <a:spcBef>
                <a:spcPts val="0"/>
              </a:spcBef>
              <a:spcAft>
                <a:spcPts val="0"/>
              </a:spcAft>
              <a:buClr>
                <a:schemeClr val="dk1"/>
              </a:buClr>
              <a:buSzPts val="2200"/>
              <a:buFont typeface="Trebuchet MS"/>
              <a:buChar char="●"/>
            </a:pPr>
            <a:r>
              <a:rPr b="1" lang="en-US" sz="2200">
                <a:solidFill>
                  <a:schemeClr val="dk1"/>
                </a:solidFill>
                <a:latin typeface="Trebuchet MS"/>
                <a:ea typeface="Trebuchet MS"/>
                <a:cs typeface="Trebuchet MS"/>
                <a:sym typeface="Trebuchet MS"/>
              </a:rPr>
              <a:t>Deployment of Non-Linear Machine Learning Models:</a:t>
            </a:r>
            <a:r>
              <a:rPr lang="en-US" sz="2200">
                <a:solidFill>
                  <a:schemeClr val="dk1"/>
                </a:solidFill>
                <a:latin typeface="Trebuchet MS"/>
                <a:ea typeface="Trebuchet MS"/>
                <a:cs typeface="Trebuchet MS"/>
                <a:sym typeface="Trebuchet MS"/>
              </a:rPr>
              <a:t> Because your EDA discovered a sharp Biomass Tier Split (Sugarcane operating on an isolated tier of </a:t>
            </a:r>
            <a:r>
              <a:rPr b="1" lang="en-US" sz="2200">
                <a:solidFill>
                  <a:schemeClr val="dk1"/>
                </a:solidFill>
                <a:latin typeface="Trebuchet MS"/>
                <a:ea typeface="Trebuchet MS"/>
                <a:cs typeface="Trebuchet MS"/>
                <a:sym typeface="Trebuchet MS"/>
              </a:rPr>
              <a:t>38–53 t/ha</a:t>
            </a:r>
            <a:r>
              <a:rPr lang="en-US" sz="2200">
                <a:solidFill>
                  <a:schemeClr val="dk1"/>
                </a:solidFill>
                <a:latin typeface="Trebuchet MS"/>
                <a:ea typeface="Trebuchet MS"/>
                <a:cs typeface="Trebuchet MS"/>
                <a:sym typeface="Trebuchet MS"/>
              </a:rPr>
              <a:t> separate from baseline crops), standard linear regressions will fail. Future scope includes deploying </a:t>
            </a:r>
            <a:r>
              <a:rPr b="1" lang="en-US" sz="2200">
                <a:solidFill>
                  <a:schemeClr val="dk1"/>
                </a:solidFill>
                <a:latin typeface="Trebuchet MS"/>
                <a:ea typeface="Trebuchet MS"/>
                <a:cs typeface="Trebuchet MS"/>
                <a:sym typeface="Trebuchet MS"/>
              </a:rPr>
              <a:t>Random Forest Regressors</a:t>
            </a:r>
            <a:r>
              <a:rPr lang="en-US" sz="2200">
                <a:solidFill>
                  <a:schemeClr val="dk1"/>
                </a:solidFill>
                <a:latin typeface="Trebuchet MS"/>
                <a:ea typeface="Trebuchet MS"/>
                <a:cs typeface="Trebuchet MS"/>
                <a:sym typeface="Trebuchet MS"/>
              </a:rPr>
              <a:t> or </a:t>
            </a:r>
            <a:r>
              <a:rPr b="1" lang="en-US" sz="2200">
                <a:solidFill>
                  <a:schemeClr val="dk1"/>
                </a:solidFill>
                <a:latin typeface="Trebuchet MS"/>
                <a:ea typeface="Trebuchet MS"/>
                <a:cs typeface="Trebuchet MS"/>
                <a:sym typeface="Trebuchet MS"/>
              </a:rPr>
              <a:t>Huber Robust Regressions</a:t>
            </a:r>
            <a:r>
              <a:rPr lang="en-US" sz="2200">
                <a:solidFill>
                  <a:schemeClr val="dk1"/>
                </a:solidFill>
                <a:latin typeface="Trebuchet MS"/>
                <a:ea typeface="Trebuchet MS"/>
                <a:cs typeface="Trebuchet MS"/>
                <a:sym typeface="Trebuchet MS"/>
              </a:rPr>
              <a:t> to navigate these heavy-tailed distributions.</a:t>
            </a:r>
            <a:endParaRPr sz="2200">
              <a:solidFill>
                <a:schemeClr val="dk1"/>
              </a:solidFill>
              <a:latin typeface="Trebuchet MS"/>
              <a:ea typeface="Trebuchet MS"/>
              <a:cs typeface="Trebuchet MS"/>
              <a:sym typeface="Trebuchet MS"/>
            </a:endParaRPr>
          </a:p>
          <a:p>
            <a:pPr indent="0" lvl="0" marL="457200" rtl="0" algn="l">
              <a:lnSpc>
                <a:spcPct val="100000"/>
              </a:lnSpc>
              <a:spcBef>
                <a:spcPts val="900"/>
              </a:spcBef>
              <a:spcAft>
                <a:spcPts val="0"/>
              </a:spcAft>
              <a:buNone/>
            </a:pPr>
            <a:r>
              <a:t/>
            </a:r>
            <a:endParaRPr sz="2200">
              <a:solidFill>
                <a:schemeClr val="dk1"/>
              </a:solidFill>
              <a:latin typeface="Trebuchet MS"/>
              <a:ea typeface="Trebuchet MS"/>
              <a:cs typeface="Trebuchet MS"/>
              <a:sym typeface="Trebuchet MS"/>
            </a:endParaRPr>
          </a:p>
          <a:p>
            <a:pPr indent="-368300" lvl="0" marL="457200" rtl="0" algn="l">
              <a:lnSpc>
                <a:spcPct val="100000"/>
              </a:lnSpc>
              <a:spcBef>
                <a:spcPts val="900"/>
              </a:spcBef>
              <a:spcAft>
                <a:spcPts val="0"/>
              </a:spcAft>
              <a:buClr>
                <a:schemeClr val="dk1"/>
              </a:buClr>
              <a:buSzPts val="2200"/>
              <a:buFont typeface="Trebuchet MS"/>
              <a:buChar char="●"/>
            </a:pPr>
            <a:r>
              <a:rPr b="1" lang="en-US" sz="2200">
                <a:solidFill>
                  <a:schemeClr val="dk1"/>
                </a:solidFill>
                <a:latin typeface="Trebuchet MS"/>
                <a:ea typeface="Trebuchet MS"/>
                <a:cs typeface="Trebuchet MS"/>
                <a:sym typeface="Trebuchet MS"/>
              </a:rPr>
              <a:t>Integration of External Real-World APIs:</a:t>
            </a:r>
            <a:r>
              <a:rPr lang="en-US" sz="2200">
                <a:solidFill>
                  <a:schemeClr val="dk1"/>
                </a:solidFill>
                <a:latin typeface="Trebuchet MS"/>
                <a:ea typeface="Trebuchet MS"/>
                <a:cs typeface="Trebuchet MS"/>
                <a:sym typeface="Trebuchet MS"/>
              </a:rPr>
              <a:t> Transitioning the verified analytical framework beyond a synthetic script by </a:t>
            </a:r>
            <a:r>
              <a:rPr lang="en-US" sz="2200">
                <a:solidFill>
                  <a:schemeClr val="dk1"/>
                </a:solidFill>
                <a:latin typeface="Trebuchet MS"/>
                <a:ea typeface="Trebuchet MS"/>
                <a:cs typeface="Trebuchet MS"/>
                <a:sym typeface="Trebuchet MS"/>
              </a:rPr>
              <a:t>hotlinking</a:t>
            </a:r>
            <a:r>
              <a:rPr lang="en-US" sz="2200">
                <a:solidFill>
                  <a:schemeClr val="dk1"/>
                </a:solidFill>
                <a:latin typeface="Trebuchet MS"/>
                <a:ea typeface="Trebuchet MS"/>
                <a:cs typeface="Trebuchet MS"/>
                <a:sym typeface="Trebuchet MS"/>
              </a:rPr>
              <a:t> live weather data (IMD API) and regional spot market commodity prices (Agmarknet scraping tool) to replace simulated parameters with active, live-production constraints.</a:t>
            </a:r>
            <a:endParaRPr sz="2200">
              <a:solidFill>
                <a:schemeClr val="dk1"/>
              </a:solidFill>
              <a:latin typeface="Trebuchet MS"/>
              <a:ea typeface="Trebuchet MS"/>
              <a:cs typeface="Trebuchet MS"/>
              <a:sym typeface="Trebuchet MS"/>
            </a:endParaRPr>
          </a:p>
          <a:p>
            <a:pPr indent="0" lvl="0" marL="457200" rtl="0" algn="l">
              <a:lnSpc>
                <a:spcPct val="100000"/>
              </a:lnSpc>
              <a:spcBef>
                <a:spcPts val="900"/>
              </a:spcBef>
              <a:spcAft>
                <a:spcPts val="0"/>
              </a:spcAft>
              <a:buNone/>
            </a:pPr>
            <a:r>
              <a:t/>
            </a:r>
            <a:endParaRPr sz="2200">
              <a:solidFill>
                <a:schemeClr val="dk1"/>
              </a:solidFill>
              <a:latin typeface="Trebuchet MS"/>
              <a:ea typeface="Trebuchet MS"/>
              <a:cs typeface="Trebuchet MS"/>
              <a:sym typeface="Trebuchet MS"/>
            </a:endParaRPr>
          </a:p>
          <a:p>
            <a:pPr indent="-368300" lvl="0" marL="457200" rtl="0" algn="l">
              <a:lnSpc>
                <a:spcPct val="100000"/>
              </a:lnSpc>
              <a:spcBef>
                <a:spcPts val="900"/>
              </a:spcBef>
              <a:spcAft>
                <a:spcPts val="0"/>
              </a:spcAft>
              <a:buSzPts val="2200"/>
              <a:buFont typeface="Trebuchet MS"/>
              <a:buChar char="●"/>
            </a:pPr>
            <a:r>
              <a:rPr b="1" lang="en-US" sz="2200">
                <a:solidFill>
                  <a:schemeClr val="dk1"/>
                </a:solidFill>
                <a:latin typeface="Trebuchet MS"/>
                <a:ea typeface="Trebuchet MS"/>
                <a:cs typeface="Trebuchet MS"/>
                <a:sym typeface="Trebuchet MS"/>
              </a:rPr>
              <a:t>BI Dashboard:</a:t>
            </a:r>
            <a:r>
              <a:rPr lang="en-US" sz="2200">
                <a:solidFill>
                  <a:schemeClr val="dk1"/>
                </a:solidFill>
                <a:latin typeface="Trebuchet MS"/>
                <a:ea typeface="Trebuchet MS"/>
                <a:cs typeface="Trebuchet MS"/>
                <a:sym typeface="Trebuchet MS"/>
              </a:rPr>
              <a:t> Engineering robust dashboards with modern BI tools to centralise KPIs and enhance data-driven decision-making. </a:t>
            </a:r>
            <a:endParaRPr sz="2200">
              <a:solidFill>
                <a:schemeClr val="dk1"/>
              </a:solidFill>
              <a:latin typeface="Trebuchet MS"/>
              <a:ea typeface="Trebuchet MS"/>
              <a:cs typeface="Trebuchet MS"/>
              <a:sym typeface="Trebuchet MS"/>
            </a:endParaRPr>
          </a:p>
          <a:p>
            <a:pPr indent="0" lvl="0" marL="0" marR="0" rtl="0" algn="l">
              <a:lnSpc>
                <a:spcPct val="100000"/>
              </a:lnSpc>
              <a:spcBef>
                <a:spcPts val="900"/>
              </a:spcBef>
              <a:spcAft>
                <a:spcPts val="0"/>
              </a:spcAft>
              <a:buNone/>
            </a:pPr>
            <a:r>
              <a:t/>
            </a:r>
            <a:endParaRPr sz="20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4"/>
                                        </p:tgtEl>
                                        <p:attrNameLst>
                                          <p:attrName>style.visibility</p:attrName>
                                        </p:attrNameLst>
                                      </p:cBhvr>
                                      <p:to>
                                        <p:strVal val="visible"/>
                                      </p:to>
                                    </p:set>
                                    <p:anim calcmode="lin" valueType="num">
                                      <p:cBhvr additive="base">
                                        <p:cTn dur="500"/>
                                        <p:tgtEl>
                                          <p:spTgt spid="344"/>
                                        </p:tgtEl>
                                        <p:attrNameLst>
                                          <p:attrName>ppt_w</p:attrName>
                                        </p:attrNameLst>
                                      </p:cBhvr>
                                      <p:tavLst>
                                        <p:tav fmla="" tm="0">
                                          <p:val>
                                            <p:strVal val="0"/>
                                          </p:val>
                                        </p:tav>
                                        <p:tav fmla="" tm="100000">
                                          <p:val>
                                            <p:strVal val="#ppt_w"/>
                                          </p:val>
                                        </p:tav>
                                      </p:tavLst>
                                    </p:anim>
                                    <p:anim calcmode="lin" valueType="num">
                                      <p:cBhvr additive="base">
                                        <p:cTn dur="500"/>
                                        <p:tgtEl>
                                          <p:spTgt spid="3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2"/>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u="sng"/>
              <a:t>GitHub Link -</a:t>
            </a:r>
            <a:endParaRPr u="sng"/>
          </a:p>
        </p:txBody>
      </p:sp>
      <p:sp>
        <p:nvSpPr>
          <p:cNvPr id="351" name="Google Shape;351;p1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52" name="Google Shape;352;p1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53" name="Google Shape;353;p12"/>
          <p:cNvSpPr txBox="1"/>
          <p:nvPr/>
        </p:nvSpPr>
        <p:spPr>
          <a:xfrm>
            <a:off x="2245981" y="2727920"/>
            <a:ext cx="7233000" cy="61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4800"/>
              <a:buFont typeface="Trebuchet MS"/>
              <a:buNone/>
            </a:pPr>
            <a:r>
              <a:rPr b="1" lang="en-US" sz="2200">
                <a:solidFill>
                  <a:schemeClr val="dk1"/>
                </a:solidFill>
                <a:latin typeface="Trebuchet MS"/>
                <a:ea typeface="Trebuchet MS"/>
                <a:cs typeface="Trebuchet MS"/>
                <a:sym typeface="Trebuchet MS"/>
              </a:rPr>
              <a:t> SRC Code: </a:t>
            </a:r>
            <a:r>
              <a:rPr lang="en-US" sz="2200" u="sng">
                <a:solidFill>
                  <a:srgbClr val="0070C0"/>
                </a:solidFill>
                <a:latin typeface="Trebuchet MS"/>
                <a:ea typeface="Trebuchet MS"/>
                <a:cs typeface="Trebuchet MS"/>
                <a:sym typeface="Trebuchet MS"/>
                <a:hlinkClick r:id="rId3">
                  <a:extLst>
                    <a:ext uri="{A12FA001-AC4F-418D-AE19-62706E023703}">
                      <ahyp:hlinkClr val="tx"/>
                    </a:ext>
                  </a:extLst>
                </a:hlinkClick>
              </a:rPr>
              <a:t>Github Link</a:t>
            </a:r>
            <a:endParaRPr sz="2200" u="sng">
              <a:solidFill>
                <a:srgbClr val="0070C0"/>
              </a:solidFill>
              <a:latin typeface="Trebuchet MS"/>
              <a:ea typeface="Trebuchet MS"/>
              <a:cs typeface="Trebuchet MS"/>
              <a:sym typeface="Trebuchet MS"/>
            </a:endParaRPr>
          </a:p>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ppt_w</p:attrName>
                                        </p:attrNameLst>
                                      </p:cBhvr>
                                      <p:tavLst>
                                        <p:tav fmla="" tm="0">
                                          <p:val>
                                            <p:strVal val="0"/>
                                          </p:val>
                                        </p:tav>
                                        <p:tav fmla="" tm="100000">
                                          <p:val>
                                            <p:strVal val="#ppt_w"/>
                                          </p:val>
                                        </p:tav>
                                      </p:tavLst>
                                    </p:anim>
                                    <p:anim calcmode="lin" valueType="num">
                                      <p:cBhvr additive="base">
                                        <p:cTn dur="500"/>
                                        <p:tgtEl>
                                          <p:spTgt spid="3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3"/>
          <p:cNvSpPr txBox="1"/>
          <p:nvPr>
            <p:ph type="title"/>
          </p:nvPr>
        </p:nvSpPr>
        <p:spPr>
          <a:xfrm>
            <a:off x="320988" y="112525"/>
            <a:ext cx="11223300" cy="884700"/>
          </a:xfrm>
          <a:prstGeom prst="rect">
            <a:avLst/>
          </a:prstGeom>
          <a:noFill/>
          <a:ln>
            <a:noFill/>
          </a:ln>
        </p:spPr>
        <p:txBody>
          <a:bodyPr anchorCtr="0" anchor="t"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lang="en-US" sz="3200" u="sng"/>
              <a:t>VOIS Course completion certificate - Course name- Data Visualization </a:t>
            </a:r>
            <a:endParaRPr u="sng"/>
          </a:p>
        </p:txBody>
      </p:sp>
      <p:pic>
        <p:nvPicPr>
          <p:cNvPr id="359" name="Google Shape;359;p13" title="Data Visualization_Certificate_page-0001.jpg"/>
          <p:cNvPicPr preferRelativeResize="0"/>
          <p:nvPr/>
        </p:nvPicPr>
        <p:blipFill>
          <a:blip r:embed="rId3">
            <a:alphaModFix/>
          </a:blip>
          <a:stretch>
            <a:fillRect/>
          </a:stretch>
        </p:blipFill>
        <p:spPr>
          <a:xfrm>
            <a:off x="2188682" y="1133525"/>
            <a:ext cx="7487927" cy="5297900"/>
          </a:xfrm>
          <a:prstGeom prst="rect">
            <a:avLst/>
          </a:prstGeom>
          <a:noFill/>
          <a:ln cap="flat" cmpd="sng" w="9525">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ppt_w</p:attrName>
                                        </p:attrNameLst>
                                      </p:cBhvr>
                                      <p:tavLst>
                                        <p:tav fmla="" tm="0">
                                          <p:val>
                                            <p:strVal val="0"/>
                                          </p:val>
                                        </p:tav>
                                        <p:tav fmla="" tm="100000">
                                          <p:val>
                                            <p:strVal val="#ppt_w"/>
                                          </p:val>
                                        </p:tav>
                                      </p:tavLst>
                                    </p:anim>
                                    <p:anim calcmode="lin" valueType="num">
                                      <p:cBhvr additive="base">
                                        <p:cTn dur="500"/>
                                        <p:tgtEl>
                                          <p:spTgt spid="3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4"/>
          <p:cNvSpPr txBox="1"/>
          <p:nvPr>
            <p:ph type="title"/>
          </p:nvPr>
        </p:nvSpPr>
        <p:spPr>
          <a:xfrm>
            <a:off x="426000" y="1694850"/>
            <a:ext cx="11340000" cy="700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 !!!</a:t>
            </a:r>
            <a:endParaRPr/>
          </a:p>
        </p:txBody>
      </p:sp>
      <p:sp>
        <p:nvSpPr>
          <p:cNvPr id="365" name="Google Shape;365;p14"/>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66" name="Google Shape;366;p14"/>
          <p:cNvSpPr txBox="1"/>
          <p:nvPr/>
        </p:nvSpPr>
        <p:spPr>
          <a:xfrm>
            <a:off x="2556450" y="3454675"/>
            <a:ext cx="70791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100">
                <a:solidFill>
                  <a:srgbClr val="3F3F3F"/>
                </a:solidFill>
                <a:latin typeface="Trebuchet MS"/>
                <a:ea typeface="Trebuchet MS"/>
                <a:cs typeface="Trebuchet MS"/>
                <a:sym typeface="Trebuchet MS"/>
              </a:rPr>
              <a:t>Open for Questions &amp; </a:t>
            </a:r>
            <a:r>
              <a:rPr b="1" lang="en-US" sz="2100">
                <a:solidFill>
                  <a:srgbClr val="3F3F3F"/>
                </a:solidFill>
                <a:latin typeface="Trebuchet MS"/>
                <a:ea typeface="Trebuchet MS"/>
                <a:cs typeface="Trebuchet MS"/>
                <a:sym typeface="Trebuchet MS"/>
              </a:rPr>
              <a:t>Discussion</a:t>
            </a:r>
            <a:endParaRPr b="1" sz="21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4"/>
                                        </p:tgtEl>
                                        <p:attrNameLst>
                                          <p:attrName>style.visibility</p:attrName>
                                        </p:attrNameLst>
                                      </p:cBhvr>
                                      <p:to>
                                        <p:strVal val="visible"/>
                                      </p:to>
                                    </p:set>
                                    <p:anim calcmode="lin" valueType="num">
                                      <p:cBhvr additive="base">
                                        <p:cTn dur="500"/>
                                        <p:tgtEl>
                                          <p:spTgt spid="364"/>
                                        </p:tgtEl>
                                        <p:attrNameLst>
                                          <p:attrName>ppt_w</p:attrName>
                                        </p:attrNameLst>
                                      </p:cBhvr>
                                      <p:tavLst>
                                        <p:tav fmla="" tm="0">
                                          <p:val>
                                            <p:strVal val="0"/>
                                          </p:val>
                                        </p:tav>
                                        <p:tav fmla="" tm="100000">
                                          <p:val>
                                            <p:strVal val="#ppt_w"/>
                                          </p:val>
                                        </p:tav>
                                      </p:tavLst>
                                    </p:anim>
                                    <p:anim calcmode="lin" valueType="num">
                                      <p:cBhvr additive="base">
                                        <p:cTn dur="500"/>
                                        <p:tgtEl>
                                          <p:spTgt spid="36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